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80" r:id="rId2"/>
    <p:sldId id="582" r:id="rId3"/>
    <p:sldId id="437" r:id="rId4"/>
    <p:sldId id="277" r:id="rId5"/>
    <p:sldId id="509" r:id="rId6"/>
    <p:sldId id="535" r:id="rId7"/>
    <p:sldId id="579" r:id="rId8"/>
    <p:sldId id="267" r:id="rId9"/>
    <p:sldId id="435" r:id="rId10"/>
    <p:sldId id="436" r:id="rId11"/>
    <p:sldId id="584" r:id="rId12"/>
    <p:sldId id="585" r:id="rId13"/>
    <p:sldId id="581" r:id="rId14"/>
    <p:sldId id="5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E0116-EF6C-42B1-AE6D-9842E8D9D426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2C4AE-A605-4074-9B4D-5A60A25AD6B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66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B788B-CD72-4A87-B6E8-928D50DA9621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9182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00B82-64C6-EF1C-AB48-560A422A8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ADE2334-1795-9D51-E5FB-B4FC4ACDC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1E07D7-451E-C7BB-160F-32C0F13E8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8E356A-6BB7-152B-28E9-C6E7DE2D7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4EE918-474A-6926-0EB1-EB7244F5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14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11F702-69D7-8C8D-A64E-3CFFC283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AB53FE-5D55-5BB0-4907-7966A3C3E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FFBDF6-8764-C4A5-148A-651974B7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AEDF72-D78A-B1BB-5CBA-9828E164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57B176-6675-66B0-63BD-014933FC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18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4616B7-0D8C-A9BD-3736-7CA83C60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B9E0A1-E7C1-5160-3A05-11FD176E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230A4F-F04E-AC1C-85D8-AAFF10A8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A5EB88-7B02-17FE-255F-5B9A15103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E431E5-456A-603B-FBBC-F8A4446F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70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5F503A-82AE-3765-BF92-62F32F4C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A7B943-DDFC-4D5F-2DB2-2D6248889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8265A6-D5EE-9F17-DF60-6CF07976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7EBCCDE-A34B-C8B6-31E1-34EC310D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476DEED-FF31-2D9E-C802-A535E273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A753EC-CDE9-754B-48DA-C5597492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17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AAAF38-5D76-CE54-1B74-2A630D3BD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7BC304-9178-3888-3296-C65EC1411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54C1E20-6921-F208-E1D7-232C014E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589134C-8368-1189-D153-648DD2587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D5BA8D4-D390-E06D-8DAC-6FE7123D8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6F45A01-7A9F-78B8-5AA9-23FA52DD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E15A4DE-4473-972C-B5B0-BB9E8EAE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F0D71EB-6B52-2D9E-ECC7-A0B3C847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27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E86555-A1F1-3B23-D721-0C3D0361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3DD5ED0-DA47-8694-6E59-3FAF5311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689EFB2-39D2-B1F0-617C-6D8135001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49C205-87D5-9723-31B4-2B95252D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97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389945C-CFAF-EF5E-D748-EEC61100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3A802C4-6219-FD1C-58AC-F6B1DC7B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E722D0-8B05-F90D-DE78-361E306A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05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030BDC-BD76-E1AC-803D-E1190A7F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A0F6CB-788B-10A9-0862-EF225584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2AFCBCA-4D91-51FE-2F61-2419B7023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82B1CC6-2F76-D9BD-D2FD-E720081A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E0D4D8D-DECD-B4E7-8143-3B7C365E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E5E9BB-007E-EDC9-EF1D-C553B5AC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38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1BAB3E-DCD2-D81C-67F6-2A60F2B26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B570EF5-25C2-6E40-8824-A330A9DF0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2129143-5218-B11E-46D4-F1604EBF0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519BEAD-F316-76F5-61B5-7ED14E9E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AA6DB1-8C89-B126-7595-228E2D81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F54A38-EA43-7744-9D5B-10C58D15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519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CB8BDB-7760-970F-B50F-C3B8663E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52C4FEA-7AC0-6A4E-85B7-13ACF62B3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CA4A21-4A06-EEE9-BD41-64682530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912C7A-3DA4-376E-1ACF-DAD610E4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92940B-6B8F-56F0-355D-B6CF10D5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95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781494A-7AA3-6AEF-B528-5B59C1AE2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E4317F-B9DE-7844-95A4-211186A82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3A0814-DE51-7EB8-05AC-BCC55BC5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53A1A4-3A32-C3C3-7525-006A435B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53CFBDF-076A-55FF-1D2F-A6813FCB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662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 INTER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mylia_positiv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43" y="333180"/>
            <a:ext cx="1191539" cy="362618"/>
          </a:xfrm>
          <a:prstGeom prst="rect">
            <a:avLst/>
          </a:prstGeom>
        </p:spPr>
      </p:pic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6D347349-06E9-45AE-A39E-F658F93B7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71DB7-1DA6-4DE3-AF5F-4BFA719738C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5313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  <p15:guide id="2" pos="733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8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01E026D-67AC-1BAF-E7D1-2417EAC8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4413B41-5BB8-D56A-784D-B3DFCA208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853B2D-C5C0-2B20-442B-84F7C0C3F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D0CAA-46F4-4AAB-8F5C-52B64D7E4C0A}" type="datetimeFigureOut">
              <a:rPr lang="en-GB" smtClean="0"/>
              <a:t>11/09/2026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0330DB-20DB-0645-DBBF-B7B78EA1B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BAD6FB-5197-9759-ACD3-9CFC08F7E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57DCC-7F2D-46F4-95B7-4B1ACF63BBE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9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etosa.io/ev/ordinary-least-squares-regressio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vision.stanford.edu/teaching/cs231n-demos/knn/" TargetMode="External"/><Relationship Id="rId5" Type="http://schemas.openxmlformats.org/officeDocument/2006/relationships/hyperlink" Target="http://playground.tensorflow.org/#activation=relu&amp;batchSize=10&amp;dataset=spiral&amp;regDataset=reg-plane&amp;learningRate=0.03&amp;regularizationRate=0&amp;noise=15&amp;networkShape=5,3,3,2,2,2&amp;seed=0.20124&amp;showTestData=false&amp;discretize=false&amp;percTrainData=60&amp;x=true&amp;y=true&amp;xTimesY=true&amp;xSquared=true&amp;ySquared=false&amp;cosX=false&amp;sinX=false&amp;cosY=false&amp;sinY=false&amp;collectStats=false&amp;problem=classification&amp;initZero=false&amp;hideText=false&amp;percTrainData_hide=false" TargetMode="External"/><Relationship Id="rId4" Type="http://schemas.openxmlformats.org/officeDocument/2006/relationships/hyperlink" Target="https://narrative-flow.github.io/exploratory-study-2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tosa.io/ev/ordinary-least-squares-regressi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1490.png"/><Relationship Id="rId3" Type="http://schemas.openxmlformats.org/officeDocument/2006/relationships/image" Target="../media/image460.png"/><Relationship Id="rId7" Type="http://schemas.openxmlformats.org/officeDocument/2006/relationships/image" Target="../media/image1470.png"/><Relationship Id="rId12" Type="http://schemas.openxmlformats.org/officeDocument/2006/relationships/image" Target="../media/image14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0.png"/><Relationship Id="rId11" Type="http://schemas.openxmlformats.org/officeDocument/2006/relationships/image" Target="../media/image541.png"/><Relationship Id="rId5" Type="http://schemas.openxmlformats.org/officeDocument/2006/relationships/image" Target="../media/image480.png"/><Relationship Id="rId15" Type="http://schemas.openxmlformats.org/officeDocument/2006/relationships/image" Target="../media/image2530.png"/><Relationship Id="rId10" Type="http://schemas.openxmlformats.org/officeDocument/2006/relationships/image" Target="../media/image2520.png"/><Relationship Id="rId4" Type="http://schemas.openxmlformats.org/officeDocument/2006/relationships/image" Target="../media/image470.png"/><Relationship Id="rId9" Type="http://schemas.openxmlformats.org/officeDocument/2006/relationships/image" Target="../media/image521.png"/><Relationship Id="rId14" Type="http://schemas.openxmlformats.org/officeDocument/2006/relationships/image" Target="../media/image15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0.png"/><Relationship Id="rId13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image" Target="../media/image320.png"/><Relationship Id="rId12" Type="http://schemas.openxmlformats.org/officeDocument/2006/relationships/hyperlink" Target="https://www.tiktok.com/@yqolgzdq882/video/7601525674863643934?_r=1&amp;_t=ZN-93eGgfPnPPy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11" Type="http://schemas.openxmlformats.org/officeDocument/2006/relationships/image" Target="../media/image531.png"/><Relationship Id="rId5" Type="http://schemas.openxmlformats.org/officeDocument/2006/relationships/image" Target="../media/image38.png"/><Relationship Id="rId15" Type="http://schemas.openxmlformats.org/officeDocument/2006/relationships/image" Target="../media/image522.png"/><Relationship Id="rId10" Type="http://schemas.openxmlformats.org/officeDocument/2006/relationships/image" Target="../media/image10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hyperlink" Target="https://chatgpt.com/share/0935bd19-63e1-4aff-a0dc-b40a224d575d" TargetMode="External"/><Relationship Id="rId4" Type="http://schemas.openxmlformats.org/officeDocument/2006/relationships/image" Target="../media/image13.png"/><Relationship Id="rId9" Type="http://schemas.openxmlformats.org/officeDocument/2006/relationships/hyperlink" Target="http://playground.tensorflow.org/#activation=relu&amp;batchSize=10&amp;dataset=spiral&amp;regDataset=reg-plane&amp;learningRate=0.03&amp;regularizationRate=0&amp;noise=15&amp;networkShape=5,3,3,2,2,2&amp;seed=0.20124&amp;showTestData=false&amp;discretize=false&amp;percTrainData=60&amp;x=true&amp;y=true&amp;xTimesY=true&amp;xSquared=true&amp;ySquared=false&amp;cosX=false&amp;sinX=false&amp;cosY=false&amp;sinY=false&amp;collectStats=false&amp;problem=classification&amp;initZero=false&amp;hideText=false&amp;percTrainData_hide=false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narrative-flow.github.io/exploratory-study-2/" TargetMode="External"/><Relationship Id="rId5" Type="http://schemas.openxmlformats.org/officeDocument/2006/relationships/hyperlink" Target="http://www.r2d3.us/visual-intro-to-machine-learning-part-1/" TargetMode="Externa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0962A79-7AD3-3C15-6385-FA7259C0F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B414FD-75D3-F9C9-9588-13016400748F}"/>
              </a:ext>
            </a:extLst>
          </p:cNvPr>
          <p:cNvSpPr txBox="1"/>
          <p:nvPr/>
        </p:nvSpPr>
        <p:spPr>
          <a:xfrm>
            <a:off x="10553699" y="6611779"/>
            <a:ext cx="1857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i="1" dirty="0"/>
              <a:t>Immagine generata dalla AI</a:t>
            </a:r>
            <a:endParaRPr lang="en-GB" sz="1000" i="1" dirty="0"/>
          </a:p>
        </p:txBody>
      </p:sp>
      <p:sp>
        <p:nvSpPr>
          <p:cNvPr id="6" name="Rettangolo con angoli arrotondati 5">
            <a:hlinkClick r:id="rId3"/>
            <a:extLst>
              <a:ext uri="{FF2B5EF4-FFF2-40B4-BE49-F238E27FC236}">
                <a16:creationId xmlns:a16="http://schemas.microsoft.com/office/drawing/2014/main" id="{DF3E898A-99D9-D9DE-8693-6896B9D3D41B}"/>
              </a:ext>
            </a:extLst>
          </p:cNvPr>
          <p:cNvSpPr/>
          <p:nvPr/>
        </p:nvSpPr>
        <p:spPr>
          <a:xfrm>
            <a:off x="142875" y="1228725"/>
            <a:ext cx="1291664" cy="7143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alla demo</a:t>
            </a:r>
            <a:endParaRPr lang="en-GB" dirty="0"/>
          </a:p>
        </p:txBody>
      </p:sp>
      <p:sp>
        <p:nvSpPr>
          <p:cNvPr id="8" name="Rettangolo con angoli arrotondati 7">
            <a:hlinkClick r:id="rId4"/>
            <a:extLst>
              <a:ext uri="{FF2B5EF4-FFF2-40B4-BE49-F238E27FC236}">
                <a16:creationId xmlns:a16="http://schemas.microsoft.com/office/drawing/2014/main" id="{D8DA46DB-2E0F-62F2-5649-379B55D3BE82}"/>
              </a:ext>
            </a:extLst>
          </p:cNvPr>
          <p:cNvSpPr/>
          <p:nvPr/>
        </p:nvSpPr>
        <p:spPr>
          <a:xfrm>
            <a:off x="10757461" y="3819525"/>
            <a:ext cx="1291664" cy="7143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alla demo</a:t>
            </a:r>
            <a:endParaRPr lang="en-GB" dirty="0"/>
          </a:p>
        </p:txBody>
      </p:sp>
      <p:sp>
        <p:nvSpPr>
          <p:cNvPr id="10" name="Rettangolo con angoli arrotondati 9">
            <a:hlinkClick r:id="rId5"/>
            <a:extLst>
              <a:ext uri="{FF2B5EF4-FFF2-40B4-BE49-F238E27FC236}">
                <a16:creationId xmlns:a16="http://schemas.microsoft.com/office/drawing/2014/main" id="{48BD8F5C-592E-A6AC-B060-43A49BC9949D}"/>
              </a:ext>
            </a:extLst>
          </p:cNvPr>
          <p:cNvSpPr/>
          <p:nvPr/>
        </p:nvSpPr>
        <p:spPr>
          <a:xfrm>
            <a:off x="0" y="4533900"/>
            <a:ext cx="1676563" cy="8945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 playground di </a:t>
            </a:r>
            <a:r>
              <a:rPr lang="it-IT" dirty="0" err="1"/>
              <a:t>TensorFlow</a:t>
            </a:r>
            <a:endParaRPr lang="it-IT" dirty="0"/>
          </a:p>
        </p:txBody>
      </p:sp>
      <p:sp>
        <p:nvSpPr>
          <p:cNvPr id="14" name="Rettangolo con angoli arrotondati 13">
            <a:hlinkClick r:id="rId6"/>
            <a:extLst>
              <a:ext uri="{FF2B5EF4-FFF2-40B4-BE49-F238E27FC236}">
                <a16:creationId xmlns:a16="http://schemas.microsoft.com/office/drawing/2014/main" id="{F2EDDBDF-EAF1-8F50-9FF0-89167D000B25}"/>
              </a:ext>
            </a:extLst>
          </p:cNvPr>
          <p:cNvSpPr/>
          <p:nvPr/>
        </p:nvSpPr>
        <p:spPr>
          <a:xfrm>
            <a:off x="10836554" y="1304925"/>
            <a:ext cx="1291664" cy="7143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alla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39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62C1E9C-1DDB-77A0-2CF2-7BC121F67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9" y="538314"/>
            <a:ext cx="11206569" cy="523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1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E073E0B-72FB-EFEB-353A-C6B64A5C3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5" name="Rettangolo con angoli arrotondati 4">
            <a:hlinkClick r:id="rId3"/>
            <a:extLst>
              <a:ext uri="{FF2B5EF4-FFF2-40B4-BE49-F238E27FC236}">
                <a16:creationId xmlns:a16="http://schemas.microsoft.com/office/drawing/2014/main" id="{9A99C99C-CF1A-A196-40B7-2164EFD57B30}"/>
              </a:ext>
            </a:extLst>
          </p:cNvPr>
          <p:cNvSpPr/>
          <p:nvPr/>
        </p:nvSpPr>
        <p:spPr>
          <a:xfrm>
            <a:off x="180975" y="142875"/>
            <a:ext cx="1291664" cy="7143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alla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0626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 is Instance-Based Learning?. [ML0to100] — S1E11 | by Sanidhya Agrawal 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88640"/>
            <a:ext cx="60769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ML Algorithms: One SD (σ)- Instance-based Algorithms | by Sagi Shaier |  Towards Data Scie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7" y="3717032"/>
            <a:ext cx="307657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nettore 1 3"/>
          <p:cNvCxnSpPr/>
          <p:nvPr/>
        </p:nvCxnSpPr>
        <p:spPr>
          <a:xfrm>
            <a:off x="4944730" y="1714123"/>
            <a:ext cx="13672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 descr="Model-based vs Instance-based Learning | Data Science and Machine Learning  | Kaggl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816" y="3302484"/>
            <a:ext cx="3555517" cy="355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ttore 1 6"/>
          <p:cNvCxnSpPr/>
          <p:nvPr/>
        </p:nvCxnSpPr>
        <p:spPr>
          <a:xfrm>
            <a:off x="7092984" y="6412147"/>
            <a:ext cx="1966024" cy="62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>
            <a:off x="7518575" y="6585249"/>
            <a:ext cx="10801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/>
          <p:cNvCxnSpPr/>
          <p:nvPr/>
        </p:nvCxnSpPr>
        <p:spPr>
          <a:xfrm flipV="1">
            <a:off x="8471076" y="6216163"/>
            <a:ext cx="552763" cy="27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umetto 2 9"/>
          <p:cNvSpPr/>
          <p:nvPr/>
        </p:nvSpPr>
        <p:spPr>
          <a:xfrm>
            <a:off x="5375921" y="6063952"/>
            <a:ext cx="1187703" cy="563961"/>
          </a:xfrm>
          <a:prstGeom prst="wedgeRoundRectCallout">
            <a:avLst>
              <a:gd name="adj1" fmla="val 91689"/>
              <a:gd name="adj2" fmla="val 14170"/>
              <a:gd name="adj3" fmla="val 1666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Non nel K-</a:t>
            </a:r>
            <a:r>
              <a:rPr lang="it-IT" dirty="0" err="1"/>
              <a:t>nn</a:t>
            </a:r>
            <a:r>
              <a:rPr lang="it-IT" dirty="0"/>
              <a:t>!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6960096" y="4437113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al contrario: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168008" y="44625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Instance-based</a:t>
            </a:r>
            <a:r>
              <a:rPr lang="it-IT" sz="2400" dirty="0"/>
              <a:t> </a:t>
            </a:r>
            <a:r>
              <a:rPr lang="it-IT" sz="2400" dirty="0" err="1"/>
              <a:t>learning</a:t>
            </a:r>
            <a:r>
              <a:rPr lang="it-IT" sz="2400" dirty="0"/>
              <a:t> (es. K-</a:t>
            </a:r>
            <a:r>
              <a:rPr lang="it-IT" sz="2400" dirty="0" err="1"/>
              <a:t>nn</a:t>
            </a:r>
            <a:r>
              <a:rPr lang="it-IT" sz="2400" dirty="0"/>
              <a:t>)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8256240" y="841436"/>
            <a:ext cx="2304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K-</a:t>
            </a:r>
            <a:r>
              <a:rPr lang="it-IT" dirty="0" err="1"/>
              <a:t>nn</a:t>
            </a:r>
            <a:r>
              <a:rPr lang="it-IT" dirty="0"/>
              <a:t> è un algoritmo </a:t>
            </a:r>
            <a:r>
              <a:rPr lang="it-IT" i="1" u="sng" dirty="0" err="1"/>
              <a:t>lazy</a:t>
            </a:r>
            <a:r>
              <a:rPr lang="it-IT" dirty="0"/>
              <a:t> (pigro) perché rimanda il calcolo al momento in cui è nota la nuova istanza da prevedere (in altre parole, non c’è un vero training)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AB71D3-D03B-443A-A3FB-B0572C2BB4C3}"/>
              </a:ext>
            </a:extLst>
          </p:cNvPr>
          <p:cNvSpPr txBox="1"/>
          <p:nvPr/>
        </p:nvSpPr>
        <p:spPr>
          <a:xfrm>
            <a:off x="2585193" y="6098746"/>
            <a:ext cx="2016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K=3 </a:t>
            </a:r>
            <a:r>
              <a:rPr lang="it-IT" sz="1400" dirty="0">
                <a:sym typeface="Wingdings" panose="05000000000000000000" pitchFamily="2" charset="2"/>
              </a:rPr>
              <a:t> triangolo</a:t>
            </a:r>
            <a:endParaRPr lang="it-IT" sz="1400" dirty="0"/>
          </a:p>
          <a:p>
            <a:r>
              <a:rPr lang="it-IT" sz="1400" dirty="0"/>
              <a:t>K=7 </a:t>
            </a:r>
            <a:r>
              <a:rPr lang="it-IT" sz="1400" dirty="0">
                <a:sym typeface="Wingdings" panose="05000000000000000000" pitchFamily="2" charset="2"/>
              </a:rPr>
              <a:t> stella</a:t>
            </a:r>
            <a:endParaRPr lang="it-IT" sz="1400" dirty="0"/>
          </a:p>
          <a:p>
            <a:r>
              <a:rPr lang="it-IT" sz="1400" dirty="0"/>
              <a:t>K=15 </a:t>
            </a:r>
            <a:r>
              <a:rPr lang="it-IT" sz="1400" dirty="0">
                <a:sym typeface="Wingdings" panose="05000000000000000000" pitchFamily="2" charset="2"/>
              </a:rPr>
              <a:t> triangolo</a:t>
            </a:r>
            <a:endParaRPr lang="it-IT" sz="140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4D1F953-396C-49CB-A9D1-770D27B6A140}"/>
              </a:ext>
            </a:extLst>
          </p:cNvPr>
          <p:cNvSpPr txBox="1"/>
          <p:nvPr/>
        </p:nvSpPr>
        <p:spPr>
          <a:xfrm>
            <a:off x="1756668" y="2866894"/>
            <a:ext cx="5123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n=27, p=2, 1 risposta categorica (quadrato/triangolo)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A7783BD-1D1D-44A4-BB91-A93C8B6001F0}"/>
              </a:ext>
            </a:extLst>
          </p:cNvPr>
          <p:cNvSpPr txBox="1"/>
          <p:nvPr/>
        </p:nvSpPr>
        <p:spPr>
          <a:xfrm>
            <a:off x="1631504" y="1235436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K=3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69FD07-2B5E-235E-EA75-6591CAB33E0E}"/>
              </a:ext>
            </a:extLst>
          </p:cNvPr>
          <p:cNvSpPr txBox="1"/>
          <p:nvPr/>
        </p:nvSpPr>
        <p:spPr>
          <a:xfrm>
            <a:off x="4996112" y="3672722"/>
            <a:ext cx="1843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n=15, p=2, 1 risposta categorica stella/triangolo)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F71B9CF-8CE2-6BD6-7DED-C931247ABD64}"/>
              </a:ext>
            </a:extLst>
          </p:cNvPr>
          <p:cNvSpPr txBox="1"/>
          <p:nvPr/>
        </p:nvSpPr>
        <p:spPr>
          <a:xfrm>
            <a:off x="1819571" y="-68034"/>
            <a:ext cx="906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</a:rPr>
              <a:t>reddito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83383C6-4FBA-4975-6EB6-21E71956EF54}"/>
              </a:ext>
            </a:extLst>
          </p:cNvPr>
          <p:cNvSpPr txBox="1"/>
          <p:nvPr/>
        </p:nvSpPr>
        <p:spPr>
          <a:xfrm>
            <a:off x="3343254" y="-24483"/>
            <a:ext cx="2420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 </a:t>
            </a:r>
            <a:r>
              <a:rPr lang="it-IT" b="1" dirty="0">
                <a:solidFill>
                  <a:srgbClr val="C00000"/>
                </a:solidFill>
              </a:rPr>
              <a:t>Cliente in default</a:t>
            </a:r>
          </a:p>
        </p:txBody>
      </p:sp>
    </p:spTree>
    <p:extLst>
      <p:ext uri="{BB962C8B-B14F-4D97-AF65-F5344CB8AC3E}">
        <p14:creationId xmlns:p14="http://schemas.microsoft.com/office/powerpoint/2010/main" val="384727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E462439-E02F-45D5-866D-B6C1224F8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55" y="129407"/>
            <a:ext cx="6822253" cy="6430092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A0C218B-37AF-41D2-8DE2-A5A848053D8A}"/>
              </a:ext>
            </a:extLst>
          </p:cNvPr>
          <p:cNvSpPr txBox="1"/>
          <p:nvPr/>
        </p:nvSpPr>
        <p:spPr>
          <a:xfrm>
            <a:off x="3399694" y="19234"/>
            <a:ext cx="8370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Marker Felt" panose="00000400000000000000" pitchFamily="2" charset="0"/>
              </a:rPr>
              <a:t>Una rete </a:t>
            </a:r>
            <a:r>
              <a:rPr lang="it-IT" sz="2400" i="1" dirty="0">
                <a:latin typeface="Marker Felt" panose="00000400000000000000" pitchFamily="2" charset="0"/>
              </a:rPr>
              <a:t>feed-</a:t>
            </a:r>
            <a:r>
              <a:rPr lang="it-IT" sz="2400" i="1" dirty="0" err="1">
                <a:latin typeface="Marker Felt" panose="00000400000000000000" pitchFamily="2" charset="0"/>
              </a:rPr>
              <a:t>forward</a:t>
            </a:r>
            <a:r>
              <a:rPr lang="it-IT" sz="2400" dirty="0">
                <a:latin typeface="Marker Felt" panose="00000400000000000000" pitchFamily="2" charset="0"/>
              </a:rPr>
              <a:t> </a:t>
            </a:r>
            <a:r>
              <a:rPr lang="it-IT" sz="2400" i="1" dirty="0" err="1">
                <a:latin typeface="Marker Felt" panose="00000400000000000000" pitchFamily="2" charset="0"/>
              </a:rPr>
              <a:t>fully</a:t>
            </a:r>
            <a:r>
              <a:rPr lang="it-IT" sz="2400" i="1" dirty="0">
                <a:latin typeface="Marker Felt" panose="00000400000000000000" pitchFamily="2" charset="0"/>
              </a:rPr>
              <a:t> </a:t>
            </a:r>
            <a:r>
              <a:rPr lang="it-IT" sz="2400" i="1" dirty="0" err="1">
                <a:latin typeface="Marker Felt" panose="00000400000000000000" pitchFamily="2" charset="0"/>
              </a:rPr>
              <a:t>connected</a:t>
            </a:r>
            <a:r>
              <a:rPr lang="it-IT" sz="2400" i="1" dirty="0">
                <a:latin typeface="Marker Felt" panose="00000400000000000000" pitchFamily="2" charset="0"/>
              </a:rPr>
              <a:t> </a:t>
            </a:r>
            <a:r>
              <a:rPr lang="it-IT" sz="2400" dirty="0">
                <a:latin typeface="Marker Felt" panose="00000400000000000000" pitchFamily="2" charset="0"/>
              </a:rPr>
              <a:t>a livelli multipli (per MNIST)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3FFE399-BFFB-4000-8146-A91552ECF282}"/>
                  </a:ext>
                </a:extLst>
              </p:cNvPr>
              <p:cNvSpPr txBox="1"/>
              <p:nvPr/>
            </p:nvSpPr>
            <p:spPr>
              <a:xfrm>
                <a:off x="2713892" y="6461944"/>
                <a:ext cx="1216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=1..</m:t>
                      </m:r>
                      <m:r>
                        <a:rPr lang="it-IT" sz="14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3FFE399-BFFB-4000-8146-A91552EC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892" y="6461944"/>
                <a:ext cx="1216403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D562B27-3B6E-4785-8D97-6FD3FBD6518E}"/>
                  </a:ext>
                </a:extLst>
              </p:cNvPr>
              <p:cNvSpPr txBox="1"/>
              <p:nvPr/>
            </p:nvSpPr>
            <p:spPr>
              <a:xfrm>
                <a:off x="4473993" y="6500103"/>
                <a:ext cx="1216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=1..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CD562B27-3B6E-4785-8D97-6FD3FBD65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993" y="6500103"/>
                <a:ext cx="12164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9B5BEC3-B89E-454D-A3B6-87738F77FC91}"/>
                  </a:ext>
                </a:extLst>
              </p:cNvPr>
              <p:cNvSpPr txBox="1"/>
              <p:nvPr/>
            </p:nvSpPr>
            <p:spPr>
              <a:xfrm>
                <a:off x="6334762" y="6499286"/>
                <a:ext cx="1216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=1..</m:t>
                      </m:r>
                      <m:sSub>
                        <m:sSubPr>
                          <m:ctrlPr>
                            <a:rPr lang="it-IT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9B5BEC3-B89E-454D-A3B6-87738F77F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762" y="6499286"/>
                <a:ext cx="1216403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5E1FD6A-02D4-4025-BFDD-0ABF32041C07}"/>
                  </a:ext>
                </a:extLst>
              </p:cNvPr>
              <p:cNvSpPr txBox="1"/>
              <p:nvPr/>
            </p:nvSpPr>
            <p:spPr>
              <a:xfrm>
                <a:off x="8178754" y="6479539"/>
                <a:ext cx="15566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=0..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it-IT" sz="1400" b="0" i="1" smtClean="0">
                          <a:latin typeface="Cambria Math" panose="02040503050406030204" pitchFamily="18" charset="0"/>
                        </a:rPr>
                        <m:t> (9)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5E1FD6A-02D4-4025-BFDD-0ABF32041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754" y="6479539"/>
                <a:ext cx="1556617" cy="307777"/>
              </a:xfrm>
              <a:prstGeom prst="rect">
                <a:avLst/>
              </a:prstGeom>
              <a:blipFill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38BF383F-06BC-418A-873F-A6E398F59FB3}"/>
              </a:ext>
            </a:extLst>
          </p:cNvPr>
          <p:cNvSpPr/>
          <p:nvPr/>
        </p:nvSpPr>
        <p:spPr>
          <a:xfrm>
            <a:off x="9694416" y="2424418"/>
            <a:ext cx="246538" cy="2575421"/>
          </a:xfrm>
          <a:prstGeom prst="rightBrace">
            <a:avLst>
              <a:gd name="adj1" fmla="val 12477"/>
              <a:gd name="adj2" fmla="val 509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968F03F-9A91-4453-BB53-9FE1166F2145}"/>
                  </a:ext>
                </a:extLst>
              </p:cNvPr>
              <p:cNvSpPr txBox="1"/>
              <p:nvPr/>
            </p:nvSpPr>
            <p:spPr>
              <a:xfrm>
                <a:off x="10052162" y="3235074"/>
                <a:ext cx="2088859" cy="979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+mj-lt"/>
                  </a:rPr>
                  <a:t>le 10 variabili numeriche</a:t>
                </a:r>
                <a14:m>
                  <m:oMath xmlns:m="http://schemas.openxmlformats.org/officeDocument/2006/math">
                    <m:r>
                      <a:rPr lang="it-IT" sz="1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it-IT" sz="1400" b="1" dirty="0">
                    <a:latin typeface="+mj-lt"/>
                  </a:rPr>
                  <a:t> </a:t>
                </a:r>
                <a:r>
                  <a:rPr lang="it-IT" sz="1400" dirty="0">
                    <a:latin typeface="+mj-lt"/>
                  </a:rPr>
                  <a:t>rappresentano una singola variabile qualitativa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968F03F-9A91-4453-BB53-9FE1166F2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162" y="3235074"/>
                <a:ext cx="2088859" cy="979948"/>
              </a:xfrm>
              <a:prstGeom prst="rect">
                <a:avLst/>
              </a:prstGeom>
              <a:blipFill>
                <a:blip r:embed="rId7"/>
                <a:stretch>
                  <a:fillRect l="-875" t="-1250" r="-2041" b="-37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F85F789-BDEC-4ED5-9963-647B65F644D8}"/>
                  </a:ext>
                </a:extLst>
              </p:cNvPr>
              <p:cNvSpPr txBox="1"/>
              <p:nvPr/>
            </p:nvSpPr>
            <p:spPr>
              <a:xfrm>
                <a:off x="3668651" y="3171730"/>
                <a:ext cx="1026272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it-IT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it-IT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+1),</m:t>
                          </m:r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6F85F789-BDEC-4ED5-9963-647B65F64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51" y="3171730"/>
                <a:ext cx="1026272" cy="553998"/>
              </a:xfrm>
              <a:prstGeom prst="rect">
                <a:avLst/>
              </a:prstGeom>
              <a:blipFill>
                <a:blip r:embed="rId8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29D27A8-111A-4E3F-89AC-EB7DA3115BBD}"/>
                  </a:ext>
                </a:extLst>
              </p:cNvPr>
              <p:cNvSpPr txBox="1"/>
              <p:nvPr/>
            </p:nvSpPr>
            <p:spPr>
              <a:xfrm>
                <a:off x="5384716" y="2966201"/>
                <a:ext cx="1216403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it-IT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it-IT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929D27A8-111A-4E3F-89AC-EB7DA311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4716" y="2966201"/>
                <a:ext cx="1216403" cy="553998"/>
              </a:xfrm>
              <a:prstGeom prst="rect">
                <a:avLst/>
              </a:prstGeom>
              <a:blipFill>
                <a:blip r:embed="rId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DB46D4B-9FCA-46D8-86DB-7C33FFED4B8B}"/>
                  </a:ext>
                </a:extLst>
              </p:cNvPr>
              <p:cNvSpPr txBox="1"/>
              <p:nvPr/>
            </p:nvSpPr>
            <p:spPr>
              <a:xfrm>
                <a:off x="163401" y="1314694"/>
                <a:ext cx="2445391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>
                    <a:latin typeface="+mj-lt"/>
                  </a:rPr>
                  <a:t>La matrice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1400" b="1" dirty="0"/>
                  <a:t> </a:t>
                </a:r>
                <a:r>
                  <a:rPr lang="it-IT" sz="1400" dirty="0">
                    <a:latin typeface="+mj-lt"/>
                  </a:rPr>
                  <a:t>contiene tutti i coefficienti che alimentano il primo livello nascosto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1400" dirty="0">
                    <a:latin typeface="+mj-lt"/>
                  </a:rPr>
                  <a:t> dal livello di input.</a:t>
                </a:r>
              </a:p>
              <a:p>
                <a:endParaRPr lang="it-IT" sz="1400" dirty="0">
                  <a:latin typeface="+mj-lt"/>
                </a:endParaRPr>
              </a:p>
              <a:p>
                <a:r>
                  <a:rPr lang="it-IT" sz="1400" dirty="0">
                    <a:latin typeface="+mj-lt"/>
                  </a:rPr>
                  <a:t>La matrice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1400" b="1" dirty="0"/>
                  <a:t> </a:t>
                </a:r>
                <a:r>
                  <a:rPr lang="it-IT" sz="1400" dirty="0">
                    <a:latin typeface="+mj-lt"/>
                  </a:rPr>
                  <a:t>contiene tutti i coefficienti che alimentano il secondo livello nascosto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1400" dirty="0">
                    <a:latin typeface="+mj-lt"/>
                  </a:rPr>
                  <a:t> dal primo livello nascosto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t-IT" sz="1400" dirty="0">
                    <a:latin typeface="+mj-lt"/>
                  </a:rPr>
                  <a:t>.</a:t>
                </a:r>
              </a:p>
              <a:p>
                <a:endParaRPr lang="it-IT" sz="1400" dirty="0">
                  <a:latin typeface="+mj-lt"/>
                </a:endParaRPr>
              </a:p>
              <a:p>
                <a:r>
                  <a:rPr lang="it-IT" sz="1400" dirty="0">
                    <a:latin typeface="+mj-lt"/>
                  </a:rPr>
                  <a:t>La matrice </a:t>
                </a:r>
                <a14:m>
                  <m:oMath xmlns:m="http://schemas.openxmlformats.org/officeDocument/2006/math">
                    <m:r>
                      <a:rPr lang="it-IT" sz="1400" b="1" i="0" smtClean="0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it-IT" sz="1400" dirty="0">
                    <a:latin typeface="+mj-lt"/>
                  </a:rPr>
                  <a:t> contiene tutti i coefficienti che alimentano il livello di output dal secondo livello nascosto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t-IT" sz="1400" dirty="0">
                    <a:latin typeface="+mj-lt"/>
                  </a:rPr>
                  <a:t> </a:t>
                </a:r>
              </a:p>
              <a:p>
                <a:endParaRPr lang="it-IT" sz="1400" dirty="0">
                  <a:latin typeface="+mj-lt"/>
                </a:endParaRPr>
              </a:p>
              <a:p>
                <a:r>
                  <a:rPr lang="it-IT" sz="1400" dirty="0">
                    <a:latin typeface="+mj-lt"/>
                  </a:rPr>
                  <a:t>La prima dimensione di queste tre matrici è aumentata di 1 per tenere conto dei </a:t>
                </a:r>
                <a:r>
                  <a:rPr lang="it-IT" sz="1400" b="1" dirty="0" err="1">
                    <a:solidFill>
                      <a:srgbClr val="C00000"/>
                    </a:solidFill>
                    <a:latin typeface="+mj-lt"/>
                  </a:rPr>
                  <a:t>bias</a:t>
                </a:r>
                <a:r>
                  <a:rPr lang="it-IT" sz="1400" dirty="0">
                    <a:solidFill>
                      <a:srgbClr val="C00000"/>
                    </a:solidFill>
                    <a:latin typeface="+mj-lt"/>
                  </a:rPr>
                  <a:t> (qui non mostrati per semplicità)</a:t>
                </a:r>
              </a:p>
              <a:p>
                <a:endParaRPr lang="it-IT" sz="1400" dirty="0">
                  <a:latin typeface="+mj-lt"/>
                </a:endParaRPr>
              </a:p>
              <a:p>
                <a:r>
                  <a:rPr lang="it-IT" sz="1400" dirty="0">
                    <a:latin typeface="+mj-lt"/>
                  </a:rPr>
                  <a:t>Non interpretare le notazioni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it-IT" sz="1400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it-IT" sz="1400" b="1" dirty="0"/>
                  <a:t> </a:t>
                </a:r>
                <a:r>
                  <a:rPr lang="it-IT" sz="1400" dirty="0">
                    <a:latin typeface="+mj-lt"/>
                  </a:rPr>
                  <a:t>e</a:t>
                </a:r>
                <a:r>
                  <a:rPr lang="it-IT" sz="1400" b="1" dirty="0"/>
                  <a:t> </a:t>
                </a:r>
                <a14:m>
                  <m:oMath xmlns:m="http://schemas.openxmlformats.org/officeDocument/2006/math">
                    <m:r>
                      <a:rPr lang="it-IT" sz="1400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it-IT" sz="1400" dirty="0">
                    <a:latin typeface="+mj-lt"/>
                  </a:rPr>
                  <a:t> per weight e </a:t>
                </a:r>
                <a:r>
                  <a:rPr lang="it-IT" sz="1400" dirty="0" err="1">
                    <a:latin typeface="+mj-lt"/>
                  </a:rPr>
                  <a:t>bias</a:t>
                </a:r>
                <a:r>
                  <a:rPr lang="it-IT" sz="1400" dirty="0">
                    <a:latin typeface="+mj-lt"/>
                  </a:rPr>
                  <a:t>. Tutte tre le matrici contengono sia weight che </a:t>
                </a:r>
                <a:r>
                  <a:rPr lang="it-IT" sz="1400" dirty="0" err="1">
                    <a:latin typeface="+mj-lt"/>
                  </a:rPr>
                  <a:t>bias</a:t>
                </a:r>
                <a:r>
                  <a:rPr lang="it-IT" sz="1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7DB46D4B-9FCA-46D8-86DB-7C33FFED4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1" y="1314694"/>
                <a:ext cx="2445391" cy="5262979"/>
              </a:xfrm>
              <a:prstGeom prst="rect">
                <a:avLst/>
              </a:prstGeom>
              <a:blipFill>
                <a:blip r:embed="rId10"/>
                <a:stretch>
                  <a:fillRect l="-748" t="-232" b="-2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tangolo 13">
            <a:extLst>
              <a:ext uri="{FF2B5EF4-FFF2-40B4-BE49-F238E27FC236}">
                <a16:creationId xmlns:a16="http://schemas.microsoft.com/office/drawing/2014/main" id="{965D80D3-F49F-49F3-895F-6D203DA3C885}"/>
              </a:ext>
            </a:extLst>
          </p:cNvPr>
          <p:cNvSpPr/>
          <p:nvPr/>
        </p:nvSpPr>
        <p:spPr>
          <a:xfrm>
            <a:off x="3930295" y="5969065"/>
            <a:ext cx="543698" cy="28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02292BE-54E9-4F46-BDFD-D1AA5D05158C}"/>
              </a:ext>
            </a:extLst>
          </p:cNvPr>
          <p:cNvSpPr/>
          <p:nvPr/>
        </p:nvSpPr>
        <p:spPr>
          <a:xfrm>
            <a:off x="5824151" y="5433568"/>
            <a:ext cx="543698" cy="28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2BDEDD1-F20D-40E1-920A-D2EC8BFFDCA0}"/>
              </a:ext>
            </a:extLst>
          </p:cNvPr>
          <p:cNvSpPr/>
          <p:nvPr/>
        </p:nvSpPr>
        <p:spPr>
          <a:xfrm>
            <a:off x="7551165" y="5074239"/>
            <a:ext cx="543698" cy="28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9CBF7B-2E5D-4C75-B34A-286D84C502E4}"/>
                  </a:ext>
                </a:extLst>
              </p:cNvPr>
              <p:cNvSpPr txBox="1"/>
              <p:nvPr/>
            </p:nvSpPr>
            <p:spPr>
              <a:xfrm>
                <a:off x="7290912" y="3061656"/>
                <a:ext cx="963942" cy="73866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b="1" i="0" smtClean="0">
                          <a:latin typeface="Cambria Math" panose="02040503050406030204" pitchFamily="18" charset="0"/>
                        </a:rPr>
                        <m:t>𝐁</m:t>
                      </m:r>
                    </m:oMath>
                  </m:oMathPara>
                </a14:m>
                <a:endParaRPr lang="it-IT" sz="1400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it-IT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it-IT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it-IT" sz="1200" b="0" i="1" smtClean="0">
                          <a:latin typeface="Cambria Math" panose="02040503050406030204" pitchFamily="18" charset="0"/>
                        </a:rPr>
                        <m:t>+1)]</m:t>
                      </m:r>
                    </m:oMath>
                  </m:oMathPara>
                </a14:m>
                <a:endParaRPr lang="it-IT" sz="12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9CBF7B-2E5D-4C75-B34A-286D84C5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912" y="3061656"/>
                <a:ext cx="963942" cy="738664"/>
              </a:xfrm>
              <a:prstGeom prst="rect">
                <a:avLst/>
              </a:prstGeom>
              <a:blipFill>
                <a:blip r:embed="rId11"/>
                <a:stretch>
                  <a:fillRect b="-24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2163B0A7-1DF9-470C-9879-EC2FAC474679}"/>
                  </a:ext>
                </a:extLst>
              </p:cNvPr>
              <p:cNvSpPr txBox="1"/>
              <p:nvPr/>
            </p:nvSpPr>
            <p:spPr>
              <a:xfrm>
                <a:off x="9208621" y="2420521"/>
                <a:ext cx="231345" cy="2528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2163B0A7-1DF9-470C-9879-EC2FAC474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621" y="2420521"/>
                <a:ext cx="231345" cy="252890"/>
              </a:xfrm>
              <a:prstGeom prst="rect">
                <a:avLst/>
              </a:prstGeom>
              <a:blipFill>
                <a:blip r:embed="rId12"/>
                <a:stretch>
                  <a:fillRect l="-21053" t="-16667" r="-50000" b="-142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E17FBFD-405E-487B-AE19-8AB9343B4777}"/>
                  </a:ext>
                </a:extLst>
              </p:cNvPr>
              <p:cNvSpPr txBox="1"/>
              <p:nvPr/>
            </p:nvSpPr>
            <p:spPr>
              <a:xfrm>
                <a:off x="9210993" y="3168539"/>
                <a:ext cx="226600" cy="2528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1E17FBFD-405E-487B-AE19-8AB9343B4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993" y="3168539"/>
                <a:ext cx="226600" cy="252890"/>
              </a:xfrm>
              <a:prstGeom prst="rect">
                <a:avLst/>
              </a:prstGeom>
              <a:blipFill>
                <a:blip r:embed="rId13"/>
                <a:stretch>
                  <a:fillRect l="-21622" t="-19512" r="-51351" b="-170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9788B28B-4429-48FA-9507-57E08E07BAEC}"/>
                  </a:ext>
                </a:extLst>
              </p:cNvPr>
              <p:cNvSpPr txBox="1"/>
              <p:nvPr/>
            </p:nvSpPr>
            <p:spPr>
              <a:xfrm>
                <a:off x="9210224" y="4577889"/>
                <a:ext cx="228139" cy="25289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9788B28B-4429-48FA-9507-57E08E07B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224" y="4577889"/>
                <a:ext cx="228139" cy="252890"/>
              </a:xfrm>
              <a:prstGeom prst="rect">
                <a:avLst/>
              </a:prstGeom>
              <a:blipFill>
                <a:blip r:embed="rId14"/>
                <a:stretch>
                  <a:fillRect l="-21622" t="-19512" r="-51351" b="-170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001E5AC-8351-7BD9-8C27-A5FBF40608C5}"/>
                  </a:ext>
                </a:extLst>
              </p:cNvPr>
              <p:cNvSpPr txBox="1"/>
              <p:nvPr/>
            </p:nvSpPr>
            <p:spPr>
              <a:xfrm>
                <a:off x="4609399" y="495354"/>
                <a:ext cx="3516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>
                    <a:latin typeface="Marker Felt" panose="00000400000000000000" pitchFamily="2" charset="0"/>
                  </a:rPr>
                  <a:t>MLP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it-IT" sz="2000" b="1" dirty="0">
                    <a:latin typeface="Marker Felt" panose="000004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r>
                  <a:rPr lang="it-IT" sz="2000" b="1" dirty="0">
                    <a:latin typeface="Marker Felt" panose="00000400000000000000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001E5AC-8351-7BD9-8C27-A5FBF4060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399" y="495354"/>
                <a:ext cx="3516899" cy="400110"/>
              </a:xfrm>
              <a:prstGeom prst="rect">
                <a:avLst/>
              </a:prstGeom>
              <a:blipFill>
                <a:blip r:embed="rId15"/>
                <a:stretch>
                  <a:fillRect l="-1733" t="-9091" b="-242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43FF57A7-1FC0-09D6-0773-EACA8C7403BD}"/>
              </a:ext>
            </a:extLst>
          </p:cNvPr>
          <p:cNvSpPr/>
          <p:nvPr/>
        </p:nvSpPr>
        <p:spPr>
          <a:xfrm>
            <a:off x="9898817" y="5478186"/>
            <a:ext cx="2088858" cy="108131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La matrice dei pesi </a:t>
            </a:r>
            <a:r>
              <a:rPr lang="it-IT" i="1" dirty="0">
                <a:solidFill>
                  <a:schemeClr val="tx1"/>
                </a:solidFill>
              </a:rPr>
              <a:t>W</a:t>
            </a:r>
            <a:r>
              <a:rPr lang="it-IT" dirty="0">
                <a:solidFill>
                  <a:schemeClr val="tx1"/>
                </a:solidFill>
              </a:rPr>
              <a:t> di ogni </a:t>
            </a:r>
            <a:r>
              <a:rPr lang="it-IT" dirty="0" err="1">
                <a:solidFill>
                  <a:schemeClr val="tx1"/>
                </a:solidFill>
              </a:rPr>
              <a:t>layer</a:t>
            </a:r>
            <a:r>
              <a:rPr lang="it-IT" dirty="0">
                <a:solidFill>
                  <a:schemeClr val="tx1"/>
                </a:solidFill>
              </a:rPr>
              <a:t> è anche detta la «kernel </a:t>
            </a:r>
            <a:r>
              <a:rPr lang="it-IT" dirty="0" err="1">
                <a:solidFill>
                  <a:schemeClr val="tx1"/>
                </a:solidFill>
              </a:rPr>
              <a:t>matrix</a:t>
            </a:r>
            <a:r>
              <a:rPr lang="it-IT" dirty="0">
                <a:solidFill>
                  <a:schemeClr val="tx1"/>
                </a:solidFill>
              </a:rPr>
              <a:t>»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4DBD570-A92D-A661-FADB-B7EEFB8CB04A}"/>
              </a:ext>
            </a:extLst>
          </p:cNvPr>
          <p:cNvSpPr/>
          <p:nvPr/>
        </p:nvSpPr>
        <p:spPr>
          <a:xfrm>
            <a:off x="8279336" y="495354"/>
            <a:ext cx="3708339" cy="108131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In questa rete qui raffigurata dobbiamo POI inserire (in genere alla fine) la funzione di attivazione e la funzione </a:t>
            </a:r>
            <a:r>
              <a:rPr lang="it-IT" i="1" dirty="0" err="1">
                <a:solidFill>
                  <a:schemeClr val="tx1"/>
                </a:solidFill>
              </a:rPr>
              <a:t>softmax</a:t>
            </a:r>
            <a:r>
              <a:rPr lang="it-IT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4C8FF70A-481B-CAB1-215E-62FCA15C8E0C}"/>
              </a:ext>
            </a:extLst>
          </p:cNvPr>
          <p:cNvCxnSpPr/>
          <p:nvPr/>
        </p:nvCxnSpPr>
        <p:spPr>
          <a:xfrm>
            <a:off x="5556738" y="6018842"/>
            <a:ext cx="256956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F8F10EC-97A9-7E9E-2096-FB91909E4D4F}"/>
              </a:ext>
            </a:extLst>
          </p:cNvPr>
          <p:cNvSpPr txBox="1"/>
          <p:nvPr/>
        </p:nvSpPr>
        <p:spPr>
          <a:xfrm>
            <a:off x="5088793" y="6046492"/>
            <a:ext cx="3708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flusso in avanti (una istanza per volta)</a:t>
            </a:r>
          </a:p>
        </p:txBody>
      </p:sp>
    </p:spTree>
    <p:extLst>
      <p:ext uri="{BB962C8B-B14F-4D97-AF65-F5344CB8AC3E}">
        <p14:creationId xmlns:p14="http://schemas.microsoft.com/office/powerpoint/2010/main" val="199228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0FCCB7-4D3A-4381-929F-710F8FA212A0}"/>
              </a:ext>
            </a:extLst>
          </p:cNvPr>
          <p:cNvSpPr txBox="1"/>
          <p:nvPr/>
        </p:nvSpPr>
        <p:spPr>
          <a:xfrm>
            <a:off x="-126031" y="41187"/>
            <a:ext cx="6786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Marker Felt" panose="00000400000000000000" pitchFamily="2" charset="0"/>
              </a:rPr>
              <a:t>Il processo iterativo (mediante </a:t>
            </a:r>
            <a:r>
              <a:rPr lang="it-IT" sz="2400" i="1" dirty="0">
                <a:latin typeface="Marker Felt" panose="00000400000000000000" pitchFamily="2" charset="0"/>
              </a:rPr>
              <a:t>feedback-</a:t>
            </a:r>
            <a:r>
              <a:rPr lang="it-IT" sz="2400" i="1" dirty="0" err="1">
                <a:latin typeface="Marker Felt" panose="00000400000000000000" pitchFamily="2" charset="0"/>
              </a:rPr>
              <a:t>closed</a:t>
            </a:r>
            <a:r>
              <a:rPr lang="it-IT" sz="2400" i="1" dirty="0">
                <a:latin typeface="Marker Felt" panose="00000400000000000000" pitchFamily="2" charset="0"/>
              </a:rPr>
              <a:t> loop</a:t>
            </a:r>
            <a:r>
              <a:rPr lang="it-IT" sz="2400" dirty="0">
                <a:latin typeface="Marker Felt" panose="00000400000000000000" pitchFamily="2" charset="0"/>
              </a:rPr>
              <a:t>)</a:t>
            </a:r>
          </a:p>
        </p:txBody>
      </p:sp>
      <p:sp>
        <p:nvSpPr>
          <p:cNvPr id="6" name="Segnaposto numero diapositiva 3">
            <a:extLst>
              <a:ext uri="{FF2B5EF4-FFF2-40B4-BE49-F238E27FC236}">
                <a16:creationId xmlns:a16="http://schemas.microsoft.com/office/drawing/2014/main" id="{2A0392B8-380E-42C9-8EC3-27AB6B166760}"/>
              </a:ext>
            </a:extLst>
          </p:cNvPr>
          <p:cNvSpPr txBox="1">
            <a:spLocks/>
          </p:cNvSpPr>
          <p:nvPr/>
        </p:nvSpPr>
        <p:spPr>
          <a:xfrm>
            <a:off x="11415641" y="138908"/>
            <a:ext cx="667501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schemeClr val="tx1">
                    <a:tint val="75000"/>
                  </a:schemeClr>
                </a:solidFill>
              </a:rPr>
              <a:t>slide </a:t>
            </a:r>
            <a:fld id="{8EE71DB7-1DA6-4DE3-AF5F-4BFA719738C4}" type="slidenum">
              <a:rPr lang="it-IT" sz="1200">
                <a:solidFill>
                  <a:schemeClr val="tx1">
                    <a:tint val="75000"/>
                  </a:schemeClr>
                </a:solidFill>
              </a:rPr>
              <a:pPr/>
              <a:t>6</a:t>
            </a:fld>
            <a:endParaRPr lang="it-IT" sz="1200" dirty="0">
              <a:solidFill>
                <a:schemeClr val="tx1">
                  <a:tint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E0AD71D-D98F-40E2-BCAB-32F374E52694}"/>
                  </a:ext>
                </a:extLst>
              </p:cNvPr>
              <p:cNvSpPr txBox="1"/>
              <p:nvPr/>
            </p:nvSpPr>
            <p:spPr>
              <a:xfrm>
                <a:off x="6462104" y="69037"/>
                <a:ext cx="5563269" cy="6847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dirty="0">
                    <a:latin typeface="+mj-lt"/>
                  </a:rPr>
                  <a:t>Ad ogni iterazione (batch dell’epoca)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 dirty="0">
                    <a:latin typeface="+mj-lt"/>
                  </a:rPr>
                  <a:t>-esima, </a:t>
                </a:r>
                <a:r>
                  <a:rPr lang="it-IT" dirty="0">
                    <a:latin typeface="+mj-lt"/>
                    <a:sym typeface="Wingdings 2" panose="05020102010507070707" pitchFamily="18" charset="2"/>
                  </a:rPr>
                  <a:t> </a:t>
                </a:r>
                <a:r>
                  <a:rPr lang="it-IT" dirty="0">
                    <a:latin typeface="+mj-lt"/>
                  </a:rPr>
                  <a:t>il calcolo della </a:t>
                </a:r>
                <a:r>
                  <a:rPr lang="it-IT" dirty="0" err="1">
                    <a:latin typeface="+mj-lt"/>
                  </a:rPr>
                  <a:t>loss</a:t>
                </a:r>
                <a:r>
                  <a:rPr lang="it-IT" dirty="0">
                    <a:latin typeface="+mj-lt"/>
                  </a:rPr>
                  <a:t> (aggregata), </a:t>
                </a:r>
                <a:r>
                  <a:rPr lang="it-IT" dirty="0">
                    <a:latin typeface="+mj-lt"/>
                    <a:sym typeface="Wingdings 2" panose="05020102010507070707" pitchFamily="18" charset="2"/>
                  </a:rPr>
                  <a:t> </a:t>
                </a:r>
                <a:r>
                  <a:rPr lang="it-IT" dirty="0">
                    <a:latin typeface="+mj-lt"/>
                  </a:rPr>
                  <a:t>la stima del gradiente in quel punto (cioè, con quel set di parametri) e </a:t>
                </a:r>
                <a:r>
                  <a:rPr lang="it-IT" dirty="0">
                    <a:latin typeface="+mj-lt"/>
                    <a:sym typeface="Wingdings 2" panose="05020102010507070707" pitchFamily="18" charset="2"/>
                  </a:rPr>
                  <a:t></a:t>
                </a:r>
                <a:r>
                  <a:rPr lang="it-IT" dirty="0">
                    <a:latin typeface="+mj-lt"/>
                  </a:rPr>
                  <a:t> </a:t>
                </a:r>
                <a:r>
                  <a:rPr lang="it-IT" b="1" dirty="0">
                    <a:solidFill>
                      <a:srgbClr val="FF0000"/>
                    </a:solidFill>
                    <a:latin typeface="+mj-lt"/>
                  </a:rPr>
                  <a:t>l’update dei parametri</a:t>
                </a:r>
                <a:r>
                  <a:rPr lang="it-IT" dirty="0">
                    <a:latin typeface="+mj-lt"/>
                  </a:rPr>
                  <a:t> (seconda la regola dell’algoritmo) si fanno: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+mj-lt"/>
                  </a:rPr>
                  <a:t>per ogni riga del dataset di training, dopo che essa è passata attraverso la rete (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case </a:t>
                </a:r>
                <a:r>
                  <a:rPr lang="it-IT" i="1" dirty="0" err="1">
                    <a:solidFill>
                      <a:srgbClr val="FF0000"/>
                    </a:solidFill>
                    <a:latin typeface="+mj-lt"/>
                  </a:rPr>
                  <a:t>updating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, </a:t>
                </a:r>
                <a:r>
                  <a:rPr lang="it-IT" i="1" dirty="0" err="1">
                    <a:solidFill>
                      <a:srgbClr val="FF0000"/>
                    </a:solidFill>
                    <a:latin typeface="+mj-lt"/>
                  </a:rPr>
                  <a:t>aka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 on-line </a:t>
                </a:r>
                <a:r>
                  <a:rPr lang="it-IT" i="1" dirty="0" err="1">
                    <a:solidFill>
                      <a:srgbClr val="FF0000"/>
                    </a:solidFill>
                    <a:latin typeface="+mj-lt"/>
                  </a:rPr>
                  <a:t>updating</a:t>
                </a:r>
                <a:r>
                  <a:rPr lang="it-IT" dirty="0">
                    <a:latin typeface="+mj-lt"/>
                  </a:rPr>
                  <a:t>); in questo caso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>
                    <a:latin typeface="+mj-lt"/>
                  </a:rPr>
                  <a:t> è uno scalare;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+mj-lt"/>
                  </a:rPr>
                  <a:t>alla fine dell’ «</a:t>
                </a:r>
                <a:r>
                  <a:rPr lang="it-IT" dirty="0">
                    <a:solidFill>
                      <a:srgbClr val="FF0000"/>
                    </a:solidFill>
                    <a:latin typeface="+mj-lt"/>
                  </a:rPr>
                  <a:t>epoca</a:t>
                </a:r>
                <a:r>
                  <a:rPr lang="it-IT" dirty="0">
                    <a:latin typeface="+mj-lt"/>
                  </a:rPr>
                  <a:t>», cioè dopo che tutte le righe sono passate attraverso la rete (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batch </a:t>
                </a:r>
                <a:r>
                  <a:rPr lang="it-IT" i="1" dirty="0" err="1">
                    <a:solidFill>
                      <a:srgbClr val="FF0000"/>
                    </a:solidFill>
                    <a:latin typeface="+mj-lt"/>
                  </a:rPr>
                  <a:t>updating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, non necessariamente full</a:t>
                </a:r>
                <a:r>
                  <a:rPr lang="it-IT" dirty="0">
                    <a:latin typeface="+mj-lt"/>
                  </a:rPr>
                  <a:t>); in questo caso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it-IT" dirty="0">
                    <a:latin typeface="+mj-lt"/>
                  </a:rPr>
                  <a:t> è un vettore;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+mj-lt"/>
                  </a:rPr>
                  <a:t>in genere il numero di update è dato da: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𝑏𝑎𝑡𝑐ℎ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𝑠𝑖𝑧𝑒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  #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𝑒𝑝𝑜𝑐ℎ𝑒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dirty="0">
                  <a:latin typeface="+mj-lt"/>
                </a:endParaRPr>
              </a:p>
              <a:p>
                <a:r>
                  <a:rPr lang="it-IT" dirty="0">
                    <a:latin typeface="+mj-lt"/>
                  </a:rPr>
                  <a:t>     </a:t>
                </a:r>
                <a:r>
                  <a:rPr lang="it-IT" sz="1400" dirty="0">
                    <a:latin typeface="+mj-lt"/>
                  </a:rPr>
                  <a:t>(</a:t>
                </a:r>
                <a:r>
                  <a:rPr lang="it-IT" sz="1400" i="1" dirty="0">
                    <a:latin typeface="+mj-lt"/>
                  </a:rPr>
                  <a:t>Jason </a:t>
                </a:r>
                <a:r>
                  <a:rPr lang="it-IT" sz="1400" i="1" dirty="0" err="1">
                    <a:latin typeface="+mj-lt"/>
                  </a:rPr>
                  <a:t>Brownlee</a:t>
                </a:r>
                <a:r>
                  <a:rPr lang="it-IT" sz="1400" i="1" dirty="0">
                    <a:latin typeface="+mj-lt"/>
                  </a:rPr>
                  <a:t> – MLM</a:t>
                </a:r>
                <a:r>
                  <a:rPr lang="it-IT" sz="1400" dirty="0">
                    <a:latin typeface="+mj-lt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>
                  <a:latin typeface="+mj-lt"/>
                </a:endParaRPr>
              </a:p>
              <a:p>
                <a:r>
                  <a:rPr lang="it-IT" dirty="0">
                    <a:latin typeface="+mj-lt"/>
                  </a:rPr>
                  <a:t>Il case </a:t>
                </a:r>
                <a:r>
                  <a:rPr lang="it-IT" dirty="0" err="1">
                    <a:latin typeface="+mj-lt"/>
                  </a:rPr>
                  <a:t>updating</a:t>
                </a:r>
                <a:r>
                  <a:rPr lang="it-IT" dirty="0">
                    <a:latin typeface="+mj-lt"/>
                  </a:rPr>
                  <a:t> tende a fornire previsioni più accurate, ma è troppo lento in esecuzione per grandi dataset di training o semplicemente quando le epoche sono centinaia o migliaia; è di fatto abbandonato (a meno di stream input);</a:t>
                </a:r>
              </a:p>
              <a:p>
                <a:r>
                  <a:rPr lang="it-IT" sz="1200" dirty="0">
                    <a:latin typeface="+mj-lt"/>
                  </a:rPr>
                  <a:t>   </a:t>
                </a:r>
                <a:endParaRPr lang="it-IT" dirty="0">
                  <a:latin typeface="+mj-lt"/>
                </a:endParaRPr>
              </a:p>
              <a:p>
                <a:r>
                  <a:rPr lang="it-IT" dirty="0">
                    <a:latin typeface="+mj-lt"/>
                  </a:rPr>
                  <a:t>Ci sono diversi modi per calcolare l’errore (diverse </a:t>
                </a:r>
                <a:r>
                  <a:rPr lang="it-IT" i="1" dirty="0" err="1">
                    <a:latin typeface="+mj-lt"/>
                  </a:rPr>
                  <a:t>loss</a:t>
                </a:r>
                <a:r>
                  <a:rPr lang="it-IT" i="1" dirty="0">
                    <a:latin typeface="+mj-lt"/>
                  </a:rPr>
                  <a:t> </a:t>
                </a:r>
                <a:r>
                  <a:rPr lang="it-IT" i="1" dirty="0" err="1">
                    <a:latin typeface="+mj-lt"/>
                  </a:rPr>
                  <a:t>function</a:t>
                </a:r>
                <a:r>
                  <a:rPr lang="it-IT" dirty="0">
                    <a:latin typeface="+mj-lt"/>
                  </a:rPr>
                  <a:t>) e diversi modi per modificare i parametri.</a:t>
                </a:r>
              </a:p>
              <a:p>
                <a:r>
                  <a:rPr lang="it-IT" sz="1200" dirty="0">
                    <a:latin typeface="+mj-lt"/>
                  </a:rPr>
                  <a:t>  </a:t>
                </a:r>
                <a:endParaRPr lang="it-IT" dirty="0">
                  <a:latin typeface="+mj-lt"/>
                </a:endParaRPr>
              </a:p>
              <a:p>
                <a:r>
                  <a:rPr lang="it-IT" dirty="0">
                    <a:latin typeface="+mj-lt"/>
                  </a:rPr>
                  <a:t>NB. Una rete è </a:t>
                </a:r>
                <a:r>
                  <a:rPr lang="it-IT" i="1" dirty="0">
                    <a:solidFill>
                      <a:srgbClr val="FF0000"/>
                    </a:solidFill>
                    <a:latin typeface="+mj-lt"/>
                  </a:rPr>
                  <a:t>feed-</a:t>
                </a:r>
                <a:r>
                  <a:rPr lang="it-IT" i="1" dirty="0" err="1">
                    <a:solidFill>
                      <a:srgbClr val="FF0000"/>
                    </a:solidFill>
                    <a:latin typeface="+mj-lt"/>
                  </a:rPr>
                  <a:t>forward</a:t>
                </a:r>
                <a:r>
                  <a:rPr lang="it-IT" dirty="0">
                    <a:solidFill>
                      <a:srgbClr val="FF0000"/>
                    </a:solidFill>
                    <a:latin typeface="+mj-lt"/>
                  </a:rPr>
                  <a:t> </a:t>
                </a:r>
                <a:r>
                  <a:rPr lang="it-IT" dirty="0">
                    <a:latin typeface="+mj-lt"/>
                  </a:rPr>
                  <a:t>(senza cicli), come questa, quando </a:t>
                </a:r>
                <a:r>
                  <a:rPr lang="it-IT" u="sng" dirty="0">
                    <a:latin typeface="+mj-lt"/>
                  </a:rPr>
                  <a:t>al suo interno</a:t>
                </a:r>
                <a:r>
                  <a:rPr lang="it-IT" dirty="0">
                    <a:latin typeface="+mj-lt"/>
                  </a:rPr>
                  <a:t> può essere percorsa solo in avanti, a differenza delle reti </a:t>
                </a:r>
                <a:r>
                  <a:rPr lang="it-IT" i="1" dirty="0">
                    <a:latin typeface="+mj-lt"/>
                  </a:rPr>
                  <a:t>ricorsive</a:t>
                </a:r>
                <a:r>
                  <a:rPr lang="it-IT" dirty="0">
                    <a:latin typeface="+mj-lt"/>
                  </a:rPr>
                  <a:t>, che ammettono loop.</a:t>
                </a:r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8E0AD71D-D98F-40E2-BCAB-32F374E5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104" y="69037"/>
                <a:ext cx="5563269" cy="6847516"/>
              </a:xfrm>
              <a:prstGeom prst="rect">
                <a:avLst/>
              </a:prstGeom>
              <a:blipFill>
                <a:blip r:embed="rId2"/>
                <a:stretch>
                  <a:fillRect l="-876" t="-534" r="-1643" b="-4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po 1">
            <a:extLst>
              <a:ext uri="{FF2B5EF4-FFF2-40B4-BE49-F238E27FC236}">
                <a16:creationId xmlns:a16="http://schemas.microsoft.com/office/drawing/2014/main" id="{4BA55647-1AE6-4B54-A355-C927211FA433}"/>
              </a:ext>
            </a:extLst>
          </p:cNvPr>
          <p:cNvGrpSpPr/>
          <p:nvPr/>
        </p:nvGrpSpPr>
        <p:grpSpPr>
          <a:xfrm>
            <a:off x="177145" y="901637"/>
            <a:ext cx="5375408" cy="5297702"/>
            <a:chOff x="96527" y="1274035"/>
            <a:chExt cx="5375408" cy="5297702"/>
          </a:xfrm>
        </p:grpSpPr>
        <p:grpSp>
          <p:nvGrpSpPr>
            <p:cNvPr id="8" name="Gruppo 7">
              <a:extLst>
                <a:ext uri="{FF2B5EF4-FFF2-40B4-BE49-F238E27FC236}">
                  <a16:creationId xmlns:a16="http://schemas.microsoft.com/office/drawing/2014/main" id="{9DA64050-F206-491E-84D8-08CA1B1B04BC}"/>
                </a:ext>
              </a:extLst>
            </p:cNvPr>
            <p:cNvGrpSpPr/>
            <p:nvPr/>
          </p:nvGrpSpPr>
          <p:grpSpPr>
            <a:xfrm>
              <a:off x="96527" y="1274035"/>
              <a:ext cx="5375408" cy="5297702"/>
              <a:chOff x="2785145" y="1500538"/>
              <a:chExt cx="5375408" cy="5297702"/>
            </a:xfrm>
          </p:grpSpPr>
          <p:pic>
            <p:nvPicPr>
              <p:cNvPr id="9" name="Immagine 8">
                <a:extLst>
                  <a:ext uri="{FF2B5EF4-FFF2-40B4-BE49-F238E27FC236}">
                    <a16:creationId xmlns:a16="http://schemas.microsoft.com/office/drawing/2014/main" id="{E9794690-51BA-4F0E-810C-5AD190155F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8014" y="1883442"/>
                <a:ext cx="5092539" cy="454252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CasellaDiTesto 9">
                    <a:extLst>
                      <a:ext uri="{FF2B5EF4-FFF2-40B4-BE49-F238E27FC236}">
                        <a16:creationId xmlns:a16="http://schemas.microsoft.com/office/drawing/2014/main" id="{EB5E3BFE-C90C-4D83-BFF4-B8B9B39F3EB3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145" y="6473686"/>
                    <a:ext cx="121640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=1..4</m:t>
                        </m:r>
                      </m:oMath>
                    </a14:m>
                    <a:r>
                      <a:rPr lang="it-IT" sz="1400" dirty="0"/>
                      <a:t> (</a:t>
                    </a:r>
                    <a14:m>
                      <m:oMath xmlns:m="http://schemas.openxmlformats.org/officeDocument/2006/math">
                        <m:r>
                          <a:rPr lang="it-IT" sz="1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a14:m>
                    <a:r>
                      <a:rPr lang="it-IT" sz="1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5" name="CasellaDiTesto 4">
                    <a:extLst>
                      <a:ext uri="{FF2B5EF4-FFF2-40B4-BE49-F238E27FC236}">
                        <a16:creationId xmlns:a16="http://schemas.microsoft.com/office/drawing/2014/main" id="{816800AA-FBD5-4FDA-8984-AF12FCBA73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5145" y="6473686"/>
                    <a:ext cx="1216403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asellaDiTesto 10">
                    <a:extLst>
                      <a:ext uri="{FF2B5EF4-FFF2-40B4-BE49-F238E27FC236}">
                        <a16:creationId xmlns:a16="http://schemas.microsoft.com/office/drawing/2014/main" id="{B82BDD7D-D2D7-4077-B21B-499EBFB0D2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48170" y="6490463"/>
                    <a:ext cx="121640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=1..5 (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it-IT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it-IT" sz="1400" dirty="0"/>
                  </a:p>
                </p:txBody>
              </p:sp>
            </mc:Choice>
            <mc:Fallback xmlns="">
              <p:sp>
                <p:nvSpPr>
                  <p:cNvPr id="18" name="CasellaDiTesto 17">
                    <a:extLst>
                      <a:ext uri="{FF2B5EF4-FFF2-40B4-BE49-F238E27FC236}">
                        <a16:creationId xmlns:a16="http://schemas.microsoft.com/office/drawing/2014/main" id="{5A9F3318-A11C-4AF3-BA26-FBB6950262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8170" y="6490463"/>
                    <a:ext cx="1216403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asellaDiTesto 11">
                    <a:extLst>
                      <a:ext uri="{FF2B5EF4-FFF2-40B4-BE49-F238E27FC236}">
                        <a16:creationId xmlns:a16="http://schemas.microsoft.com/office/drawing/2014/main" id="{5B32E3F9-FA98-46E2-B9B1-BAD12F292BDA}"/>
                      </a:ext>
                    </a:extLst>
                  </p:cNvPr>
                  <p:cNvSpPr txBox="1"/>
                  <p:nvPr/>
                </p:nvSpPr>
                <p:spPr>
                  <a:xfrm>
                    <a:off x="4089213" y="2678624"/>
                    <a:ext cx="411908" cy="3032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it-IT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it-IT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𝒌𝒋</m:t>
                              </m:r>
                            </m:sub>
                          </m:sSub>
                        </m:oMath>
                      </m:oMathPara>
                    </a14:m>
                    <a:endParaRPr lang="it-IT" b="1" i="1" dirty="0"/>
                  </a:p>
                </p:txBody>
              </p:sp>
            </mc:Choice>
            <mc:Fallback xmlns="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5E3214C9-DDE5-4854-B084-8DF66EC7AB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89213" y="2678624"/>
                    <a:ext cx="411908" cy="30328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7463" r="-13433" b="-28000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CasellaDiTesto 12">
                    <a:extLst>
                      <a:ext uri="{FF2B5EF4-FFF2-40B4-BE49-F238E27FC236}">
                        <a16:creationId xmlns:a16="http://schemas.microsoft.com/office/drawing/2014/main" id="{2C4A686C-E187-4A87-941A-9EC7A71638B1}"/>
                      </a:ext>
                    </a:extLst>
                  </p:cNvPr>
                  <p:cNvSpPr txBox="1"/>
                  <p:nvPr/>
                </p:nvSpPr>
                <p:spPr>
                  <a:xfrm>
                    <a:off x="6452532" y="3235355"/>
                    <a:ext cx="32213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l-G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it-IT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it-IT" b="1" i="1" dirty="0"/>
                  </a:p>
                </p:txBody>
              </p:sp>
            </mc:Choice>
            <mc:Fallback xmlns="">
              <p:sp>
                <p:nvSpPr>
                  <p:cNvPr id="8" name="CasellaDiTesto 7">
                    <a:extLst>
                      <a:ext uri="{FF2B5EF4-FFF2-40B4-BE49-F238E27FC236}">
                        <a16:creationId xmlns:a16="http://schemas.microsoft.com/office/drawing/2014/main" id="{31C398ED-1DBF-43D9-B763-B171429A7D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52532" y="3235355"/>
                    <a:ext cx="322139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6415" t="-4444" r="-9434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CE1E1DAD-C909-443C-845B-73B190746F63}"/>
                  </a:ext>
                </a:extLst>
              </p:cNvPr>
              <p:cNvSpPr/>
              <p:nvPr/>
            </p:nvSpPr>
            <p:spPr>
              <a:xfrm>
                <a:off x="3068014" y="1500538"/>
                <a:ext cx="5012423" cy="10984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CasellaDiTesto 14">
                    <a:extLst>
                      <a:ext uri="{FF2B5EF4-FFF2-40B4-BE49-F238E27FC236}">
                        <a16:creationId xmlns:a16="http://schemas.microsoft.com/office/drawing/2014/main" id="{1D54D3B8-2290-46FC-8CCB-C6610EA9E0B6}"/>
                      </a:ext>
                    </a:extLst>
                  </p:cNvPr>
                  <p:cNvSpPr txBox="1"/>
                  <p:nvPr/>
                </p:nvSpPr>
                <p:spPr>
                  <a:xfrm>
                    <a:off x="3042846" y="1895884"/>
                    <a:ext cx="866423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t-IT" sz="1400" dirty="0">
                        <a:latin typeface="+mj-lt"/>
                      </a:rPr>
                      <a:t>(</a:t>
                    </a:r>
                    <a14:m>
                      <m:oMath xmlns:m="http://schemas.openxmlformats.org/officeDocument/2006/math"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4 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𝑛𝑜𝑑𝑖</m:t>
                        </m:r>
                      </m:oMath>
                    </a14:m>
                    <a:r>
                      <a:rPr lang="it-IT" sz="1400" dirty="0">
                        <a:latin typeface="+mj-lt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0" name="CasellaDiTesto 9">
                    <a:extLst>
                      <a:ext uri="{FF2B5EF4-FFF2-40B4-BE49-F238E27FC236}">
                        <a16:creationId xmlns:a16="http://schemas.microsoft.com/office/drawing/2014/main" id="{0B68B445-9942-40C2-8883-A40B3A1CA2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42846" y="1895884"/>
                    <a:ext cx="866423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13"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asellaDiTesto 15">
                    <a:extLst>
                      <a:ext uri="{FF2B5EF4-FFF2-40B4-BE49-F238E27FC236}">
                        <a16:creationId xmlns:a16="http://schemas.microsoft.com/office/drawing/2014/main" id="{E0B995B1-70D9-4318-9EF1-2A7BEE225F5C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624" y="1879839"/>
                    <a:ext cx="157334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t-IT" sz="1400" dirty="0"/>
                      <a:t>(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it-IT" sz="14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1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it-IT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it-IT" sz="1400" dirty="0">
                        <a:latin typeface="+mj-lt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CasellaDiTesto 10">
                    <a:extLst>
                      <a:ext uri="{FF2B5EF4-FFF2-40B4-BE49-F238E27FC236}">
                        <a16:creationId xmlns:a16="http://schemas.microsoft.com/office/drawing/2014/main" id="{64ACC148-F31B-4800-9D4C-0E4DBFC013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624" y="1879839"/>
                    <a:ext cx="1573347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163" t="-3922" b="-19608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7" name="Immagine 16">
                <a:extLst>
                  <a:ext uri="{FF2B5EF4-FFF2-40B4-BE49-F238E27FC236}">
                    <a16:creationId xmlns:a16="http://schemas.microsoft.com/office/drawing/2014/main" id="{9EF9856C-1E27-4BD9-94EE-014FF58477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68014" y="1500538"/>
                <a:ext cx="4691803" cy="480575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sellaDiTesto 17">
                  <a:extLst>
                    <a:ext uri="{FF2B5EF4-FFF2-40B4-BE49-F238E27FC236}">
                      <a16:creationId xmlns:a16="http://schemas.microsoft.com/office/drawing/2014/main" id="{9A1F8653-CFFC-4ED4-9D59-93BAE183B112}"/>
                    </a:ext>
                  </a:extLst>
                </p:cNvPr>
                <p:cNvSpPr txBox="1"/>
                <p:nvPr/>
              </p:nvSpPr>
              <p:spPr>
                <a:xfrm>
                  <a:off x="5220401" y="4103588"/>
                  <a:ext cx="229102" cy="28443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it-IT" i="1" dirty="0"/>
                </a:p>
              </p:txBody>
            </p:sp>
          </mc:Choice>
          <mc:Fallback xmlns="">
            <p:sp>
              <p:nvSpPr>
                <p:cNvPr id="18" name="CasellaDiTesto 17">
                  <a:extLst>
                    <a:ext uri="{FF2B5EF4-FFF2-40B4-BE49-F238E27FC236}">
                      <a16:creationId xmlns:a16="http://schemas.microsoft.com/office/drawing/2014/main" id="{9A1F8653-CFFC-4ED4-9D59-93BAE183B1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401" y="4103588"/>
                  <a:ext cx="229102" cy="284437"/>
                </a:xfrm>
                <a:prstGeom prst="rect">
                  <a:avLst/>
                </a:prstGeom>
                <a:blipFill>
                  <a:blip r:embed="rId11"/>
                  <a:stretch>
                    <a:fillRect l="-23684" t="-17021" r="-55263" b="-1914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E469A9C0-8349-4965-B295-99C044DC005B}"/>
              </a:ext>
            </a:extLst>
          </p:cNvPr>
          <p:cNvCxnSpPr>
            <a:cxnSpLocks/>
          </p:cNvCxnSpPr>
          <p:nvPr/>
        </p:nvCxnSpPr>
        <p:spPr>
          <a:xfrm flipH="1">
            <a:off x="5367499" y="4000741"/>
            <a:ext cx="9174" cy="26109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C057AA08-8386-4F85-9EB5-708662ABC428}"/>
              </a:ext>
            </a:extLst>
          </p:cNvPr>
          <p:cNvCxnSpPr>
            <a:cxnSpLocks/>
          </p:cNvCxnSpPr>
          <p:nvPr/>
        </p:nvCxnSpPr>
        <p:spPr>
          <a:xfrm>
            <a:off x="1666142" y="6610202"/>
            <a:ext cx="370177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1962258D-4E81-4895-A5DE-501B6A773A9E}"/>
                  </a:ext>
                </a:extLst>
              </p:cNvPr>
              <p:cNvSpPr txBox="1"/>
              <p:nvPr/>
            </p:nvSpPr>
            <p:spPr>
              <a:xfrm>
                <a:off x="4166671" y="4658276"/>
                <a:ext cx="2375549" cy="837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dirty="0">
                    <a:latin typeface="+mj-lt"/>
                  </a:rPr>
                  <a:t>calcolo della </a:t>
                </a:r>
                <a:r>
                  <a:rPr lang="it-IT" sz="1600" dirty="0" err="1">
                    <a:latin typeface="+mj-lt"/>
                  </a:rPr>
                  <a:t>loss</a:t>
                </a:r>
                <a:r>
                  <a:rPr lang="it-IT" sz="1600" dirty="0">
                    <a:latin typeface="+mj-lt"/>
                  </a:rPr>
                  <a:t> aggregata sul batch </a:t>
                </a:r>
                <a:r>
                  <a:rPr lang="it-IT" sz="16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1600" dirty="0"/>
                  <a:t> </a:t>
                </a:r>
                <a:r>
                  <a:rPr lang="it-IT" sz="1600" dirty="0">
                    <a:latin typeface="+mj-lt"/>
                  </a:rPr>
                  <a:t>vs.</a:t>
                </a:r>
                <a:r>
                  <a:rPr lang="it-IT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1600" dirty="0"/>
                  <a:t>) – es. con </a:t>
                </a:r>
                <a:r>
                  <a:rPr lang="it-IT" sz="1600" dirty="0">
                    <a:hlinkClick r:id="rId12"/>
                  </a:rPr>
                  <a:t>MSE (video)</a:t>
                </a:r>
                <a:endParaRPr lang="it-IT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1962258D-4E81-4895-A5DE-501B6A773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71" y="4658276"/>
                <a:ext cx="2375549" cy="837665"/>
              </a:xfrm>
              <a:prstGeom prst="rect">
                <a:avLst/>
              </a:prstGeom>
              <a:blipFill>
                <a:blip r:embed="rId13"/>
                <a:stretch>
                  <a:fillRect t="-699" b="-5594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837593BC-7096-45E5-921E-554978295451}"/>
              </a:ext>
            </a:extLst>
          </p:cNvPr>
          <p:cNvCxnSpPr>
            <a:cxnSpLocks/>
          </p:cNvCxnSpPr>
          <p:nvPr/>
        </p:nvCxnSpPr>
        <p:spPr>
          <a:xfrm>
            <a:off x="3839914" y="6243081"/>
            <a:ext cx="0" cy="367121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444DFFD4-BE4A-4082-8D36-7E0B20D87A4F}"/>
              </a:ext>
            </a:extLst>
          </p:cNvPr>
          <p:cNvCxnSpPr>
            <a:cxnSpLocks/>
          </p:cNvCxnSpPr>
          <p:nvPr/>
        </p:nvCxnSpPr>
        <p:spPr>
          <a:xfrm>
            <a:off x="1659311" y="6241656"/>
            <a:ext cx="0" cy="367121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1960E8D4-911F-49EB-8D50-B9EB5349AF32}"/>
                  </a:ext>
                </a:extLst>
              </p:cNvPr>
              <p:cNvSpPr txBox="1"/>
              <p:nvPr/>
            </p:nvSpPr>
            <p:spPr>
              <a:xfrm>
                <a:off x="1914262" y="6320184"/>
                <a:ext cx="195479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dirty="0">
                    <a:solidFill>
                      <a:srgbClr val="FF0000"/>
                    </a:solidFill>
                    <a:latin typeface="+mj-lt"/>
                  </a:rPr>
                  <a:t>update dei parametri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it-IT" sz="1600" dirty="0">
                    <a:solidFill>
                      <a:srgbClr val="FF0000"/>
                    </a:solidFill>
                    <a:latin typeface="+mj-lt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it-IT" sz="1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it-IT" sz="16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1960E8D4-911F-49EB-8D50-B9EB5349A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262" y="6320184"/>
                <a:ext cx="1954790" cy="615553"/>
              </a:xfrm>
              <a:prstGeom prst="rect">
                <a:avLst/>
              </a:prstGeom>
              <a:blipFill>
                <a:blip r:embed="rId14"/>
                <a:stretch>
                  <a:fillRect t="-2970" r="-3115" b="-79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3018209-4D11-4873-A628-9C1F189A89F7}"/>
                  </a:ext>
                </a:extLst>
              </p:cNvPr>
              <p:cNvSpPr txBox="1"/>
              <p:nvPr/>
            </p:nvSpPr>
            <p:spPr>
              <a:xfrm>
                <a:off x="5448651" y="3968689"/>
                <a:ext cx="9843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it-IT" sz="1200" dirty="0">
                    <a:latin typeface="+mj-lt"/>
                  </a:rPr>
                  <a:t>: numero iterazione</a:t>
                </a:r>
              </a:p>
            </p:txBody>
          </p:sp>
        </mc:Choice>
        <mc:Fallback xmlns=""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33018209-4D11-4873-A628-9C1F189A8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51" y="3968689"/>
                <a:ext cx="984316" cy="461665"/>
              </a:xfrm>
              <a:prstGeom prst="rect">
                <a:avLst/>
              </a:prstGeom>
              <a:blipFill>
                <a:blip r:embed="rId15"/>
                <a:stretch>
                  <a:fillRect l="-621" b="-9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umetto: rettangolo con angoli arrotondati 24">
            <a:extLst>
              <a:ext uri="{FF2B5EF4-FFF2-40B4-BE49-F238E27FC236}">
                <a16:creationId xmlns:a16="http://schemas.microsoft.com/office/drawing/2014/main" id="{0C025CE5-1D91-43F0-8841-D118F665B1BA}"/>
              </a:ext>
            </a:extLst>
          </p:cNvPr>
          <p:cNvSpPr/>
          <p:nvPr/>
        </p:nvSpPr>
        <p:spPr>
          <a:xfrm>
            <a:off x="58724" y="6242523"/>
            <a:ext cx="1313799" cy="574285"/>
          </a:xfrm>
          <a:prstGeom prst="wedgeRoundRectCallout">
            <a:avLst>
              <a:gd name="adj1" fmla="val 91100"/>
              <a:gd name="adj2" fmla="val -626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+mj-lt"/>
              </a:rPr>
              <a:t>tramite una </a:t>
            </a:r>
            <a:r>
              <a:rPr lang="it-IT" sz="1200" i="1" dirty="0">
                <a:solidFill>
                  <a:srgbClr val="FF0000"/>
                </a:solidFill>
                <a:latin typeface="+mj-lt"/>
              </a:rPr>
              <a:t>update rule</a:t>
            </a:r>
            <a:r>
              <a:rPr lang="it-IT" sz="1200" dirty="0">
                <a:solidFill>
                  <a:schemeClr val="tx1"/>
                </a:solidFill>
                <a:latin typeface="+mj-lt"/>
              </a:rPr>
              <a:t>, ad es. quella del GD.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CE0E521-8996-3551-22F5-ABFCFAC6A1FC}"/>
              </a:ext>
            </a:extLst>
          </p:cNvPr>
          <p:cNvSpPr/>
          <p:nvPr/>
        </p:nvSpPr>
        <p:spPr>
          <a:xfrm>
            <a:off x="6635692" y="2880768"/>
            <a:ext cx="5277141" cy="81686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3806C97-5F3F-5463-BD57-20D81829DC0B}"/>
              </a:ext>
            </a:extLst>
          </p:cNvPr>
          <p:cNvSpPr txBox="1"/>
          <p:nvPr/>
        </p:nvSpPr>
        <p:spPr>
          <a:xfrm>
            <a:off x="4499079" y="5750244"/>
            <a:ext cx="1772080" cy="107721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+mj-lt"/>
              </a:rPr>
              <a:t>calcolo (stima) del gradiente tramite la </a:t>
            </a:r>
            <a:r>
              <a:rPr lang="it-IT" sz="1600" i="1" dirty="0">
                <a:latin typeface="+mj-lt"/>
              </a:rPr>
              <a:t>back-</a:t>
            </a:r>
            <a:r>
              <a:rPr lang="it-IT" sz="1600" i="1" dirty="0" err="1">
                <a:latin typeface="+mj-lt"/>
              </a:rPr>
              <a:t>propagation</a:t>
            </a:r>
            <a:endParaRPr lang="it-IT" sz="1600" i="1" dirty="0">
              <a:latin typeface="+mj-lt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1C3570D-AF76-6723-C6FB-E762268E871A}"/>
              </a:ext>
            </a:extLst>
          </p:cNvPr>
          <p:cNvSpPr txBox="1"/>
          <p:nvPr/>
        </p:nvSpPr>
        <p:spPr>
          <a:xfrm>
            <a:off x="5396920" y="3159212"/>
            <a:ext cx="846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7500</a:t>
            </a:r>
          </a:p>
        </p:txBody>
      </p:sp>
    </p:spTree>
    <p:extLst>
      <p:ext uri="{BB962C8B-B14F-4D97-AF65-F5344CB8AC3E}">
        <p14:creationId xmlns:p14="http://schemas.microsoft.com/office/powerpoint/2010/main" val="15758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ADDA865-7048-6AF2-E850-27FFA7BA01CC}"/>
              </a:ext>
            </a:extLst>
          </p:cNvPr>
          <p:cNvSpPr txBox="1"/>
          <p:nvPr/>
        </p:nvSpPr>
        <p:spPr>
          <a:xfrm>
            <a:off x="0" y="19051"/>
            <a:ext cx="6858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Progettazione GRAFICA di una rete neurale – 1/5: </a:t>
            </a:r>
            <a:r>
              <a:rPr lang="it-IT" sz="2400" b="1" dirty="0">
                <a:solidFill>
                  <a:srgbClr val="FF0000"/>
                </a:solidFill>
              </a:rPr>
              <a:t>playground di </a:t>
            </a:r>
            <a:r>
              <a:rPr lang="it-IT" sz="2400" b="1" dirty="0" err="1">
                <a:solidFill>
                  <a:srgbClr val="FF0000"/>
                </a:solidFill>
              </a:rPr>
              <a:t>TensorFlow</a:t>
            </a:r>
            <a:endParaRPr lang="it-IT" sz="2400" b="1" dirty="0">
              <a:solidFill>
                <a:srgbClr val="FF0000"/>
              </a:solidFill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7BE0AB6-7C61-ACFA-6408-B1F2D089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0" y="760288"/>
            <a:ext cx="10922457" cy="607866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EAE67C-EF7C-DCB5-CC9C-AA7281ED96A9}"/>
              </a:ext>
            </a:extLst>
          </p:cNvPr>
          <p:cNvSpPr txBox="1"/>
          <p:nvPr/>
        </p:nvSpPr>
        <p:spPr>
          <a:xfrm>
            <a:off x="941553" y="4366372"/>
            <a:ext cx="1273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rgbClr val="C00000"/>
                </a:solidFill>
              </a:rPr>
              <a:t>%rumore – sopra 50% non ha senso prevedere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441B9A-89AF-43B4-5926-263C825DCD4F}"/>
              </a:ext>
            </a:extLst>
          </p:cNvPr>
          <p:cNvSpPr txBox="1"/>
          <p:nvPr/>
        </p:nvSpPr>
        <p:spPr>
          <a:xfrm>
            <a:off x="1299437" y="3198167"/>
            <a:ext cx="915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rgbClr val="C00000"/>
                </a:solidFill>
              </a:rPr>
              <a:t>4 dataset con segnale più o meno complesso da riconoscere e separare in classi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6884697-2DD4-4525-B33F-C4632BD71B7F}"/>
              </a:ext>
            </a:extLst>
          </p:cNvPr>
          <p:cNvSpPr txBox="1"/>
          <p:nvPr/>
        </p:nvSpPr>
        <p:spPr>
          <a:xfrm>
            <a:off x="228698" y="6484983"/>
            <a:ext cx="3056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rgbClr val="C00000"/>
                </a:solidFill>
              </a:rPr>
              <a:t>Nella realtà segnale e rumore  non sono sotto il nostro controllo, perché fanno processo del fenomeno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53B9F68-6C44-4C8C-0081-3142B285EED0}"/>
              </a:ext>
            </a:extLst>
          </p:cNvPr>
          <p:cNvSpPr txBox="1"/>
          <p:nvPr/>
        </p:nvSpPr>
        <p:spPr>
          <a:xfrm>
            <a:off x="8470798" y="6654260"/>
            <a:ext cx="1412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rgbClr val="C00000"/>
                </a:solidFill>
              </a:rPr>
              <a:t>dati di test con bordo scuro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C234AAF-862F-F2F9-9561-A865B55962C4}"/>
              </a:ext>
            </a:extLst>
          </p:cNvPr>
          <p:cNvSpPr txBox="1"/>
          <p:nvPr/>
        </p:nvSpPr>
        <p:spPr>
          <a:xfrm>
            <a:off x="9711014" y="2298767"/>
            <a:ext cx="1412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b="1" dirty="0">
                <a:solidFill>
                  <a:srgbClr val="C00000"/>
                </a:solidFill>
              </a:rPr>
              <a:t>Le due </a:t>
            </a:r>
            <a:r>
              <a:rPr lang="it-IT" sz="800" b="1" dirty="0" err="1">
                <a:solidFill>
                  <a:srgbClr val="C00000"/>
                </a:solidFill>
              </a:rPr>
              <a:t>loss</a:t>
            </a:r>
            <a:r>
              <a:rPr lang="it-IT" sz="800" b="1" dirty="0">
                <a:solidFill>
                  <a:srgbClr val="C00000"/>
                </a:solidFill>
              </a:rPr>
              <a:t>  non sono qui necessariamente le % di </a:t>
            </a:r>
            <a:r>
              <a:rPr lang="it-IT" sz="800" b="1" dirty="0" err="1">
                <a:solidFill>
                  <a:srgbClr val="C00000"/>
                </a:solidFill>
              </a:rPr>
              <a:t>misclassificazione</a:t>
            </a:r>
            <a:endParaRPr lang="it-IT" sz="800" b="1" dirty="0">
              <a:solidFill>
                <a:srgbClr val="C00000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9219907-A5B9-B31E-0786-BF040C6C202F}"/>
              </a:ext>
            </a:extLst>
          </p:cNvPr>
          <p:cNvSpPr txBox="1"/>
          <p:nvPr/>
        </p:nvSpPr>
        <p:spPr>
          <a:xfrm>
            <a:off x="4577282" y="5270271"/>
            <a:ext cx="400692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/>
              <a:t>Da qualche prova empirica con il dataset in posizione 2 ed il rumore a 20, sembra che la </a:t>
            </a:r>
            <a:r>
              <a:rPr lang="it-IT" sz="1400" dirty="0" err="1"/>
              <a:t>loss</a:t>
            </a:r>
            <a:r>
              <a:rPr lang="it-IT" sz="1400" dirty="0"/>
              <a:t> di test più bassa si ottenga con 1 </a:t>
            </a:r>
            <a:r>
              <a:rPr lang="it-IT" sz="1400" dirty="0" err="1"/>
              <a:t>layer</a:t>
            </a:r>
            <a:r>
              <a:rPr lang="it-IT" sz="1400" dirty="0"/>
              <a:t> nascosto di 8 nodi, la </a:t>
            </a:r>
            <a:r>
              <a:rPr lang="it-IT" sz="1400" dirty="0" err="1"/>
              <a:t>tanh</a:t>
            </a:r>
            <a:r>
              <a:rPr lang="it-IT" sz="1400" dirty="0"/>
              <a:t> e la regolarizzazione L1. Selezionando tutte le trasformazioni dei predittori riusciamo a fittare bene anche il dataset più complesso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C343FA43-08D7-FA58-ECB6-2D3E2D6A0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999" y="5067046"/>
            <a:ext cx="514286" cy="46666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412C1A9-147F-CC89-EDAF-0431469B9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681" y="6397183"/>
            <a:ext cx="466667" cy="457143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C729A91-19FF-6FBE-626E-DFB6D6B4380F}"/>
              </a:ext>
            </a:extLst>
          </p:cNvPr>
          <p:cNvSpPr txBox="1"/>
          <p:nvPr/>
        </p:nvSpPr>
        <p:spPr>
          <a:xfrm>
            <a:off x="2971800" y="3108404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Rettangolo con angoli arrotondati 14">
            <a:hlinkClick r:id="rId5"/>
            <a:extLst>
              <a:ext uri="{FF2B5EF4-FFF2-40B4-BE49-F238E27FC236}">
                <a16:creationId xmlns:a16="http://schemas.microsoft.com/office/drawing/2014/main" id="{12BD7F9C-C00E-75D2-9CC8-0CFA800A7D50}"/>
              </a:ext>
            </a:extLst>
          </p:cNvPr>
          <p:cNvSpPr/>
          <p:nvPr/>
        </p:nvSpPr>
        <p:spPr>
          <a:xfrm>
            <a:off x="9120882" y="19051"/>
            <a:ext cx="2961527" cy="894584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chat su come interpretare il </a:t>
            </a:r>
            <a:r>
              <a:rPr lang="it-IT" dirty="0" err="1">
                <a:solidFill>
                  <a:schemeClr val="tx1"/>
                </a:solidFill>
              </a:rPr>
              <a:t>problem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type</a:t>
            </a:r>
            <a:r>
              <a:rPr lang="it-IT" dirty="0">
                <a:solidFill>
                  <a:schemeClr val="tx1"/>
                </a:solidFill>
              </a:rPr>
              <a:t> «</a:t>
            </a:r>
            <a:r>
              <a:rPr lang="it-IT" dirty="0" err="1">
                <a:solidFill>
                  <a:schemeClr val="tx1"/>
                </a:solidFill>
              </a:rPr>
              <a:t>regression</a:t>
            </a:r>
            <a:r>
              <a:rPr lang="it-IT" dirty="0">
                <a:solidFill>
                  <a:schemeClr val="tx1"/>
                </a:solidFill>
              </a:rPr>
              <a:t>» (</a:t>
            </a:r>
            <a:r>
              <a:rPr lang="it-IT" u="sng" dirty="0">
                <a:solidFill>
                  <a:schemeClr val="tx1"/>
                </a:solidFill>
              </a:rPr>
              <a:t>al fondo</a:t>
            </a:r>
            <a:r>
              <a:rPr lang="it-IT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C845242F-854F-23CC-CCAE-B3550A736A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75" y="3293070"/>
            <a:ext cx="409524" cy="409524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673E7F74-4322-8DD0-842C-FAA7859756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32" y="2898880"/>
            <a:ext cx="409524" cy="41904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41DC0FB4-9E08-A0ED-2BCF-A7F45820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235" y="2894118"/>
            <a:ext cx="409524" cy="428571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FF6AFE1F-DD8D-D48A-DD97-976F82ACC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1" y="3299765"/>
            <a:ext cx="466667" cy="457143"/>
          </a:xfrm>
          <a:prstGeom prst="rect">
            <a:avLst/>
          </a:prstGeom>
        </p:spPr>
      </p:pic>
      <p:sp>
        <p:nvSpPr>
          <p:cNvPr id="19" name="Rettangolo con angoli arrotondati 18">
            <a:hlinkClick r:id="rId9"/>
            <a:extLst>
              <a:ext uri="{FF2B5EF4-FFF2-40B4-BE49-F238E27FC236}">
                <a16:creationId xmlns:a16="http://schemas.microsoft.com/office/drawing/2014/main" id="{E634E6BC-6E2A-09B6-C0B2-FF41A1E5E224}"/>
              </a:ext>
            </a:extLst>
          </p:cNvPr>
          <p:cNvSpPr/>
          <p:nvPr/>
        </p:nvSpPr>
        <p:spPr>
          <a:xfrm>
            <a:off x="3051756" y="1543726"/>
            <a:ext cx="1412941" cy="8945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4 passi: dati, feature, livelli nascosti, iper-parametri</a:t>
            </a:r>
          </a:p>
        </p:txBody>
      </p:sp>
    </p:spTree>
    <p:extLst>
      <p:ext uri="{BB962C8B-B14F-4D97-AF65-F5344CB8AC3E}">
        <p14:creationId xmlns:p14="http://schemas.microsoft.com/office/powerpoint/2010/main" val="18015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W 10 Pro\Desktop\SALVATAGGIO DATI\Documents\Temi\Data Science (dataset e risorse)\Libro DSfB (ed altri) - dataset e figure\figures (dal google group)\dsfb_0315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762" y="548681"/>
            <a:ext cx="4103687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W 10 Pro\Desktop\SALVATAGGIO DATI\Documents\Temi\Data Science (dataset e risorse)\Libro DSfB (ed altri) - dataset e figure\figures (dal google group)\dsfb_0315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3680919"/>
            <a:ext cx="3816424" cy="31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W 10 Pro\Desktop\SALVATAGGIO DATI\Documents\Temi\Data Science (dataset e risorse)\Libro DSfB (ed altri) - dataset e figure\figures (dal google group)\dsfb_03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548680"/>
            <a:ext cx="32226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/>
          <p:cNvSpPr txBox="1"/>
          <p:nvPr/>
        </p:nvSpPr>
        <p:spPr>
          <a:xfrm>
            <a:off x="8184233" y="6517213"/>
            <a:ext cx="2360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i="1" dirty="0"/>
              <a:t>Fonte: </a:t>
            </a:r>
            <a:r>
              <a:rPr lang="it-IT" sz="1200" i="1" dirty="0" err="1"/>
              <a:t>DSfB</a:t>
            </a:r>
            <a:r>
              <a:rPr lang="it-IT" sz="1200" i="1" dirty="0"/>
              <a:t> (</a:t>
            </a:r>
            <a:r>
              <a:rPr lang="it-IT" sz="1200" i="1" dirty="0" err="1"/>
              <a:t>Provost</a:t>
            </a:r>
            <a:r>
              <a:rPr lang="it-IT" sz="1200" i="1" dirty="0"/>
              <a:t> &amp; </a:t>
            </a:r>
            <a:r>
              <a:rPr lang="it-IT" sz="1200" i="1" dirty="0" err="1"/>
              <a:t>Fawcett</a:t>
            </a:r>
            <a:r>
              <a:rPr lang="it-IT" sz="1200" i="1" dirty="0"/>
              <a:t>)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3791744" y="1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Alberi di classificazione</a:t>
            </a:r>
          </a:p>
        </p:txBody>
      </p:sp>
      <p:sp>
        <p:nvSpPr>
          <p:cNvPr id="3" name="CasellaDiTesto 2"/>
          <p:cNvSpPr txBox="1"/>
          <p:nvPr/>
        </p:nvSpPr>
        <p:spPr>
          <a:xfrm>
            <a:off x="6888088" y="4293096"/>
            <a:ext cx="3672408" cy="175432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 err="1"/>
              <a:t>If</a:t>
            </a:r>
            <a:r>
              <a:rPr lang="it-IT" dirty="0"/>
              <a:t> Balance &lt; 50K</a:t>
            </a:r>
          </a:p>
          <a:p>
            <a:r>
              <a:rPr lang="it-IT" dirty="0"/>
              <a:t>     </a:t>
            </a:r>
            <a:r>
              <a:rPr lang="it-IT" dirty="0" err="1"/>
              <a:t>If</a:t>
            </a:r>
            <a:r>
              <a:rPr lang="it-IT" dirty="0"/>
              <a:t> Age &lt; 50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assign</a:t>
            </a:r>
            <a:r>
              <a:rPr lang="it-IT" dirty="0"/>
              <a:t> ‘</a:t>
            </a:r>
            <a:r>
              <a:rPr lang="it-IT" dirty="0" err="1"/>
              <a:t>wo</a:t>
            </a:r>
            <a:r>
              <a:rPr lang="it-IT" dirty="0"/>
              <a:t>’</a:t>
            </a:r>
          </a:p>
          <a:p>
            <a:r>
              <a:rPr lang="it-IT" dirty="0"/>
              <a:t>     else </a:t>
            </a:r>
            <a:r>
              <a:rPr lang="it-IT" dirty="0" err="1"/>
              <a:t>assign</a:t>
            </a:r>
            <a:r>
              <a:rPr lang="it-IT" dirty="0"/>
              <a:t> ‘no’;</a:t>
            </a:r>
          </a:p>
          <a:p>
            <a:r>
              <a:rPr lang="it-IT" dirty="0"/>
              <a:t>Else</a:t>
            </a:r>
          </a:p>
          <a:p>
            <a:r>
              <a:rPr lang="it-IT" dirty="0"/>
              <a:t>     </a:t>
            </a:r>
            <a:r>
              <a:rPr lang="it-IT" dirty="0" err="1"/>
              <a:t>If</a:t>
            </a:r>
            <a:r>
              <a:rPr lang="it-IT" dirty="0"/>
              <a:t> Age &lt; 45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assign</a:t>
            </a:r>
            <a:r>
              <a:rPr lang="it-IT" dirty="0"/>
              <a:t> ‘</a:t>
            </a:r>
            <a:r>
              <a:rPr lang="it-IT" dirty="0" err="1"/>
              <a:t>wo</a:t>
            </a:r>
            <a:r>
              <a:rPr lang="it-IT" dirty="0"/>
              <a:t>’</a:t>
            </a:r>
          </a:p>
          <a:p>
            <a:r>
              <a:rPr lang="it-IT" dirty="0"/>
              <a:t>     else </a:t>
            </a:r>
            <a:r>
              <a:rPr lang="it-IT" dirty="0" err="1"/>
              <a:t>assign</a:t>
            </a:r>
            <a:r>
              <a:rPr lang="it-IT" dirty="0"/>
              <a:t> ‘no’.</a:t>
            </a:r>
          </a:p>
        </p:txBody>
      </p:sp>
      <p:sp>
        <p:nvSpPr>
          <p:cNvPr id="8" name="Freccia in su 7"/>
          <p:cNvSpPr/>
          <p:nvPr/>
        </p:nvSpPr>
        <p:spPr>
          <a:xfrm rot="5400000">
            <a:off x="5509200" y="1826541"/>
            <a:ext cx="237496" cy="365812"/>
          </a:xfrm>
          <a:prstGeom prst="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in su 8"/>
          <p:cNvSpPr/>
          <p:nvPr/>
        </p:nvSpPr>
        <p:spPr>
          <a:xfrm rot="10800000">
            <a:off x="7839979" y="3573016"/>
            <a:ext cx="237496" cy="365812"/>
          </a:xfrm>
          <a:prstGeom prst="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su 9"/>
          <p:cNvSpPr/>
          <p:nvPr/>
        </p:nvSpPr>
        <p:spPr>
          <a:xfrm rot="16200000">
            <a:off x="5975624" y="4394065"/>
            <a:ext cx="237496" cy="365812"/>
          </a:xfrm>
          <a:prstGeom prst="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8184232" y="3356992"/>
            <a:ext cx="1944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Ogni albero ha una rappresentazione grafica ed una a regole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5439776" y="4770601"/>
            <a:ext cx="1564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i relativi </a:t>
            </a:r>
            <a:r>
              <a:rPr lang="it-IT" sz="1600" b="1" i="1" dirty="0" err="1">
                <a:solidFill>
                  <a:srgbClr val="FF0000"/>
                </a:solidFill>
              </a:rPr>
              <a:t>decision</a:t>
            </a:r>
            <a:r>
              <a:rPr lang="it-IT" sz="1600" b="1" i="1" dirty="0">
                <a:solidFill>
                  <a:srgbClr val="FF0000"/>
                </a:solidFill>
              </a:rPr>
              <a:t> </a:t>
            </a:r>
            <a:r>
              <a:rPr lang="it-IT" sz="1600" b="1" i="1" dirty="0" err="1">
                <a:solidFill>
                  <a:srgbClr val="FF0000"/>
                </a:solidFill>
              </a:rPr>
              <a:t>boundary</a:t>
            </a:r>
            <a:r>
              <a:rPr lang="it-IT" sz="1600" b="1" i="1" dirty="0">
                <a:solidFill>
                  <a:srgbClr val="FF0000"/>
                </a:solidFill>
              </a:rPr>
              <a:t> (i </a:t>
            </a:r>
            <a:r>
              <a:rPr lang="it-IT" sz="1600" b="1" i="1" dirty="0" err="1">
                <a:solidFill>
                  <a:srgbClr val="FF0000"/>
                </a:solidFill>
              </a:rPr>
              <a:t>cut</a:t>
            </a:r>
            <a:r>
              <a:rPr lang="it-IT" sz="1600" b="1" i="1" dirty="0">
                <a:solidFill>
                  <a:srgbClr val="FF0000"/>
                </a:solidFill>
              </a:rPr>
              <a:t> </a:t>
            </a:r>
            <a:r>
              <a:rPr lang="it-IT" sz="1600" b="1" i="1" dirty="0" err="1">
                <a:solidFill>
                  <a:srgbClr val="FF0000"/>
                </a:solidFill>
              </a:rPr>
              <a:t>point</a:t>
            </a:r>
            <a:r>
              <a:rPr lang="it-IT" sz="1600" b="1" i="1" dirty="0">
                <a:solidFill>
                  <a:srgbClr val="FF0000"/>
                </a:solidFill>
              </a:rPr>
              <a:t> delle varie dimensioni)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2135560" y="5970766"/>
            <a:ext cx="627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FF0000"/>
                </a:solidFill>
              </a:rPr>
              <a:t>wo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4" name="CasellaDiTesto 13"/>
          <p:cNvSpPr txBox="1"/>
          <p:nvPr/>
        </p:nvSpPr>
        <p:spPr>
          <a:xfrm>
            <a:off x="4820196" y="4941168"/>
            <a:ext cx="627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FF0000"/>
                </a:solidFill>
              </a:rPr>
              <a:t>wo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2207568" y="3645024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no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4943872" y="3657155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no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7" name="Ovale 6"/>
          <p:cNvSpPr/>
          <p:nvPr/>
        </p:nvSpPr>
        <p:spPr>
          <a:xfrm>
            <a:off x="3467708" y="4437113"/>
            <a:ext cx="252028" cy="67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/>
          <p:cNvSpPr txBox="1"/>
          <p:nvPr/>
        </p:nvSpPr>
        <p:spPr>
          <a:xfrm>
            <a:off x="4007768" y="3121804"/>
            <a:ext cx="1944216" cy="52322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/>
              <a:t>‘Age’ non è sufficiente a classificare, qui.</a:t>
            </a:r>
          </a:p>
        </p:txBody>
      </p:sp>
      <p:cxnSp>
        <p:nvCxnSpPr>
          <p:cNvPr id="12" name="Connettore 2 11"/>
          <p:cNvCxnSpPr/>
          <p:nvPr/>
        </p:nvCxnSpPr>
        <p:spPr>
          <a:xfrm flipH="1">
            <a:off x="3646098" y="3644832"/>
            <a:ext cx="361672" cy="806398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arrotondato 19">
            <a:hlinkClick r:id="rId5"/>
          </p:cNvPr>
          <p:cNvSpPr/>
          <p:nvPr/>
        </p:nvSpPr>
        <p:spPr>
          <a:xfrm>
            <a:off x="5879976" y="6260458"/>
            <a:ext cx="2304256" cy="57606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Animazione di alberi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1664730" y="36401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n=32, p=3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B8340B2-C08A-429F-AE98-BE9C5E615EDF}"/>
              </a:ext>
            </a:extLst>
          </p:cNvPr>
          <p:cNvSpPr txBox="1"/>
          <p:nvPr/>
        </p:nvSpPr>
        <p:spPr>
          <a:xfrm>
            <a:off x="5195900" y="1578278"/>
            <a:ext cx="101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FF0000"/>
                </a:solidFill>
              </a:rPr>
              <a:t>fitting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F03E4D4-88EE-498F-85E2-B1B0C63234F8}"/>
              </a:ext>
            </a:extLst>
          </p:cNvPr>
          <p:cNvSpPr txBox="1"/>
          <p:nvPr/>
        </p:nvSpPr>
        <p:spPr>
          <a:xfrm>
            <a:off x="5709970" y="3863034"/>
            <a:ext cx="1013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Plotting</a:t>
            </a:r>
            <a:r>
              <a:rPr lang="it-IT" sz="1600" dirty="0">
                <a:solidFill>
                  <a:srgbClr val="FF0000"/>
                </a:solidFill>
              </a:rPr>
              <a:t> (a valle)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9" name="Rettangolo con angoli arrotondati 18">
            <a:hlinkClick r:id="rId6"/>
            <a:extLst>
              <a:ext uri="{FF2B5EF4-FFF2-40B4-BE49-F238E27FC236}">
                <a16:creationId xmlns:a16="http://schemas.microsoft.com/office/drawing/2014/main" id="{79E8A2F4-5183-EFE8-581F-9E627AA40F91}"/>
              </a:ext>
            </a:extLst>
          </p:cNvPr>
          <p:cNvSpPr/>
          <p:nvPr/>
        </p:nvSpPr>
        <p:spPr>
          <a:xfrm>
            <a:off x="180975" y="142875"/>
            <a:ext cx="1291664" cy="7143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link alla demo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082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6166-F0CC-3223-D758-9067ED978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W 10 Pro\Desktop\SALVATAGGIO DATI\Documents\Temi\Data Science (dataset e risorse)\Libro DSfB (ed altri) - dataset e figure\figures (dal google group)\dsfb_0315b.png">
            <a:extLst>
              <a:ext uri="{FF2B5EF4-FFF2-40B4-BE49-F238E27FC236}">
                <a16:creationId xmlns:a16="http://schemas.microsoft.com/office/drawing/2014/main" id="{A87BA8D1-8470-DBD0-F8CC-8DAC834A3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3680919"/>
            <a:ext cx="3816424" cy="311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W 10 Pro\Desktop\SALVATAGGIO DATI\Documents\Temi\Data Science (dataset e risorse)\Libro DSfB (ed altri) - dataset e figure\figures (dal google group)\dsfb_0301.png">
            <a:extLst>
              <a:ext uri="{FF2B5EF4-FFF2-40B4-BE49-F238E27FC236}">
                <a16:creationId xmlns:a16="http://schemas.microsoft.com/office/drawing/2014/main" id="{877361F3-4965-B29C-261B-BADE67ADD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548680"/>
            <a:ext cx="32226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873BD47-72E9-97B4-03D2-E2584DB278BE}"/>
              </a:ext>
            </a:extLst>
          </p:cNvPr>
          <p:cNvSpPr txBox="1"/>
          <p:nvPr/>
        </p:nvSpPr>
        <p:spPr>
          <a:xfrm>
            <a:off x="8184233" y="6517213"/>
            <a:ext cx="2360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i="1" dirty="0"/>
              <a:t>Fonte: </a:t>
            </a:r>
            <a:r>
              <a:rPr lang="it-IT" sz="1200" i="1" dirty="0" err="1"/>
              <a:t>DSfB</a:t>
            </a:r>
            <a:r>
              <a:rPr lang="it-IT" sz="1200" i="1" dirty="0"/>
              <a:t> (</a:t>
            </a:r>
            <a:r>
              <a:rPr lang="it-IT" sz="1200" i="1" dirty="0" err="1"/>
              <a:t>Provost</a:t>
            </a:r>
            <a:r>
              <a:rPr lang="it-IT" sz="1200" i="1" dirty="0"/>
              <a:t> &amp; </a:t>
            </a:r>
            <a:r>
              <a:rPr lang="it-IT" sz="1200" i="1" dirty="0" err="1"/>
              <a:t>Fawcett</a:t>
            </a:r>
            <a:r>
              <a:rPr lang="it-IT" sz="1200" i="1" dirty="0"/>
              <a:t>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EA4D62-44FE-F840-BEF8-2380D1FC8019}"/>
              </a:ext>
            </a:extLst>
          </p:cNvPr>
          <p:cNvSpPr txBox="1"/>
          <p:nvPr/>
        </p:nvSpPr>
        <p:spPr>
          <a:xfrm>
            <a:off x="3791744" y="1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Alberi di classificazione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61C8725-2BAC-E95C-0043-EBE9D6982D03}"/>
              </a:ext>
            </a:extLst>
          </p:cNvPr>
          <p:cNvSpPr txBox="1"/>
          <p:nvPr/>
        </p:nvSpPr>
        <p:spPr>
          <a:xfrm>
            <a:off x="6888088" y="4293096"/>
            <a:ext cx="3672408" cy="2308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200" dirty="0" err="1"/>
              <a:t>If</a:t>
            </a:r>
            <a:r>
              <a:rPr lang="it-IT" sz="1200" dirty="0"/>
              <a:t> Balance &lt; 50K</a:t>
            </a:r>
          </a:p>
          <a:p>
            <a:r>
              <a:rPr lang="it-IT" sz="1200" dirty="0"/>
              <a:t>     </a:t>
            </a:r>
            <a:r>
              <a:rPr lang="it-IT" sz="1200" dirty="0" err="1"/>
              <a:t>If</a:t>
            </a:r>
            <a:r>
              <a:rPr lang="it-IT" sz="1200" dirty="0"/>
              <a:t> Age &lt; 50 </a:t>
            </a:r>
            <a:r>
              <a:rPr lang="it-IT" sz="1200" dirty="0" err="1"/>
              <a:t>then</a:t>
            </a:r>
            <a:r>
              <a:rPr lang="it-IT" sz="1200" dirty="0"/>
              <a:t> </a:t>
            </a:r>
            <a:r>
              <a:rPr lang="it-IT" sz="1200" dirty="0" err="1"/>
              <a:t>assign</a:t>
            </a:r>
            <a:r>
              <a:rPr lang="it-IT" sz="1200" dirty="0"/>
              <a:t> ‘</a:t>
            </a:r>
            <a:r>
              <a:rPr lang="it-IT" sz="1200" dirty="0" err="1"/>
              <a:t>wo</a:t>
            </a:r>
            <a:r>
              <a:rPr lang="it-IT" sz="1200" dirty="0"/>
              <a:t>’</a:t>
            </a:r>
          </a:p>
          <a:p>
            <a:r>
              <a:rPr lang="it-IT" sz="1200" dirty="0"/>
              <a:t>     else </a:t>
            </a:r>
          </a:p>
          <a:p>
            <a:r>
              <a:rPr lang="it-IT" sz="1200" dirty="0"/>
              <a:t>         </a:t>
            </a:r>
            <a:r>
              <a:rPr lang="it-IT" sz="1200" dirty="0" err="1"/>
              <a:t>if</a:t>
            </a:r>
            <a:r>
              <a:rPr lang="it-IT" sz="1200" dirty="0"/>
              <a:t> Balance &lt; 40 </a:t>
            </a:r>
            <a:r>
              <a:rPr lang="it-IT" sz="1200" dirty="0" err="1"/>
              <a:t>then</a:t>
            </a:r>
            <a:r>
              <a:rPr lang="it-IT" sz="1200" dirty="0"/>
              <a:t> </a:t>
            </a:r>
            <a:r>
              <a:rPr lang="it-IT" sz="1200" dirty="0" err="1"/>
              <a:t>assign</a:t>
            </a:r>
            <a:r>
              <a:rPr lang="it-IT" sz="1200" dirty="0"/>
              <a:t> ‘no’</a:t>
            </a:r>
          </a:p>
          <a:p>
            <a:r>
              <a:rPr lang="it-IT" sz="1200" dirty="0"/>
              <a:t>	else </a:t>
            </a:r>
            <a:r>
              <a:rPr lang="it-IT" sz="1200" dirty="0" err="1"/>
              <a:t>assign</a:t>
            </a:r>
            <a:r>
              <a:rPr lang="it-IT" sz="1200" dirty="0"/>
              <a:t> ‘</a:t>
            </a:r>
            <a:r>
              <a:rPr lang="it-IT" sz="1200" dirty="0" err="1"/>
              <a:t>wo</a:t>
            </a:r>
            <a:r>
              <a:rPr lang="it-IT" sz="1200" dirty="0"/>
              <a:t>’;</a:t>
            </a:r>
          </a:p>
          <a:p>
            <a:r>
              <a:rPr lang="it-IT" sz="1200" dirty="0"/>
              <a:t>Else</a:t>
            </a:r>
          </a:p>
          <a:p>
            <a:r>
              <a:rPr lang="it-IT" sz="1200" dirty="0"/>
              <a:t>     </a:t>
            </a:r>
            <a:r>
              <a:rPr lang="it-IT" sz="1200" dirty="0" err="1"/>
              <a:t>If</a:t>
            </a:r>
            <a:r>
              <a:rPr lang="it-IT" sz="1200" dirty="0"/>
              <a:t> Age &lt; 45 </a:t>
            </a:r>
            <a:r>
              <a:rPr lang="it-IT" sz="1200" dirty="0" err="1"/>
              <a:t>then</a:t>
            </a:r>
            <a:r>
              <a:rPr lang="it-IT" sz="1200" dirty="0"/>
              <a:t> </a:t>
            </a:r>
          </a:p>
          <a:p>
            <a:r>
              <a:rPr lang="it-IT" sz="1200" dirty="0"/>
              <a:t>           </a:t>
            </a:r>
            <a:r>
              <a:rPr lang="it-IT" sz="1200" dirty="0" err="1"/>
              <a:t>if</a:t>
            </a:r>
            <a:r>
              <a:rPr lang="it-IT" sz="1200" dirty="0"/>
              <a:t> Age &lt; 35 </a:t>
            </a:r>
            <a:r>
              <a:rPr lang="it-IT" sz="1200" dirty="0" err="1"/>
              <a:t>then</a:t>
            </a:r>
            <a:r>
              <a:rPr lang="it-IT" sz="1200" dirty="0"/>
              <a:t> </a:t>
            </a:r>
            <a:r>
              <a:rPr lang="it-IT" sz="1200" dirty="0" err="1"/>
              <a:t>assign</a:t>
            </a:r>
            <a:r>
              <a:rPr lang="it-IT" sz="1200" dirty="0"/>
              <a:t> ‘</a:t>
            </a:r>
            <a:r>
              <a:rPr lang="it-IT" sz="1200" dirty="0" err="1"/>
              <a:t>wo</a:t>
            </a:r>
            <a:r>
              <a:rPr lang="it-IT" sz="1200" dirty="0"/>
              <a:t>’</a:t>
            </a:r>
          </a:p>
          <a:p>
            <a:r>
              <a:rPr lang="it-IT" sz="1200" dirty="0"/>
              <a:t>               else</a:t>
            </a:r>
          </a:p>
          <a:p>
            <a:r>
              <a:rPr lang="it-IT" sz="1200" dirty="0"/>
              <a:t>                      </a:t>
            </a:r>
            <a:r>
              <a:rPr lang="it-IT" sz="1200" dirty="0" err="1"/>
              <a:t>if</a:t>
            </a:r>
            <a:r>
              <a:rPr lang="it-IT" sz="1200" dirty="0"/>
              <a:t> Balance &lt; 80 </a:t>
            </a:r>
            <a:r>
              <a:rPr lang="it-IT" sz="1200" dirty="0" err="1"/>
              <a:t>then</a:t>
            </a:r>
            <a:r>
              <a:rPr lang="it-IT" sz="1200" dirty="0"/>
              <a:t> </a:t>
            </a:r>
            <a:r>
              <a:rPr lang="it-IT" sz="1200" dirty="0" err="1"/>
              <a:t>assign</a:t>
            </a:r>
            <a:r>
              <a:rPr lang="it-IT" sz="1200" dirty="0"/>
              <a:t> ‘</a:t>
            </a:r>
            <a:r>
              <a:rPr lang="it-IT" sz="1200" dirty="0" err="1"/>
              <a:t>wo</a:t>
            </a:r>
            <a:r>
              <a:rPr lang="it-IT" sz="1200" dirty="0"/>
              <a:t>’</a:t>
            </a:r>
          </a:p>
          <a:p>
            <a:r>
              <a:rPr lang="it-IT" sz="1200" dirty="0"/>
              <a:t>	else </a:t>
            </a:r>
            <a:r>
              <a:rPr lang="it-IT" sz="1200" dirty="0" err="1"/>
              <a:t>assign</a:t>
            </a:r>
            <a:r>
              <a:rPr lang="it-IT" sz="1200" dirty="0"/>
              <a:t> ‘no’</a:t>
            </a:r>
          </a:p>
          <a:p>
            <a:r>
              <a:rPr lang="it-IT" sz="1200" dirty="0"/>
              <a:t>     else </a:t>
            </a:r>
            <a:r>
              <a:rPr lang="it-IT" sz="1200" dirty="0" err="1"/>
              <a:t>assign</a:t>
            </a:r>
            <a:r>
              <a:rPr lang="it-IT" sz="1200" dirty="0"/>
              <a:t> ‘no’.</a:t>
            </a:r>
          </a:p>
        </p:txBody>
      </p:sp>
      <p:sp>
        <p:nvSpPr>
          <p:cNvPr id="8" name="Freccia in su 7">
            <a:extLst>
              <a:ext uri="{FF2B5EF4-FFF2-40B4-BE49-F238E27FC236}">
                <a16:creationId xmlns:a16="http://schemas.microsoft.com/office/drawing/2014/main" id="{CABA83D0-34C7-AE0C-C990-03864D07487F}"/>
              </a:ext>
            </a:extLst>
          </p:cNvPr>
          <p:cNvSpPr/>
          <p:nvPr/>
        </p:nvSpPr>
        <p:spPr>
          <a:xfrm rot="8631401">
            <a:off x="6351335" y="2438898"/>
            <a:ext cx="237496" cy="1486751"/>
          </a:xfrm>
          <a:prstGeom prst="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in su 9">
            <a:extLst>
              <a:ext uri="{FF2B5EF4-FFF2-40B4-BE49-F238E27FC236}">
                <a16:creationId xmlns:a16="http://schemas.microsoft.com/office/drawing/2014/main" id="{93361DB4-FAC0-0919-298E-04703E2353C0}"/>
              </a:ext>
            </a:extLst>
          </p:cNvPr>
          <p:cNvSpPr/>
          <p:nvPr/>
        </p:nvSpPr>
        <p:spPr>
          <a:xfrm rot="16200000">
            <a:off x="5975624" y="4394065"/>
            <a:ext cx="237496" cy="365812"/>
          </a:xfrm>
          <a:prstGeom prst="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BCAC77-9F06-802C-1B52-922EB1E94D93}"/>
              </a:ext>
            </a:extLst>
          </p:cNvPr>
          <p:cNvSpPr txBox="1"/>
          <p:nvPr/>
        </p:nvSpPr>
        <p:spPr>
          <a:xfrm>
            <a:off x="5439776" y="4770601"/>
            <a:ext cx="15644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i relativi </a:t>
            </a:r>
            <a:r>
              <a:rPr lang="it-IT" sz="1600" b="1" i="1" dirty="0" err="1">
                <a:solidFill>
                  <a:srgbClr val="FF0000"/>
                </a:solidFill>
              </a:rPr>
              <a:t>decision</a:t>
            </a:r>
            <a:r>
              <a:rPr lang="it-IT" sz="1600" b="1" i="1" dirty="0">
                <a:solidFill>
                  <a:srgbClr val="FF0000"/>
                </a:solidFill>
              </a:rPr>
              <a:t> </a:t>
            </a:r>
            <a:r>
              <a:rPr lang="it-IT" sz="1600" b="1" i="1" dirty="0" err="1">
                <a:solidFill>
                  <a:srgbClr val="FF0000"/>
                </a:solidFill>
              </a:rPr>
              <a:t>boundary</a:t>
            </a:r>
            <a:r>
              <a:rPr lang="it-IT" sz="1600" b="1" i="1" dirty="0">
                <a:solidFill>
                  <a:srgbClr val="FF0000"/>
                </a:solidFill>
              </a:rPr>
              <a:t> (i </a:t>
            </a:r>
            <a:r>
              <a:rPr lang="it-IT" sz="1600" b="1" i="1" dirty="0" err="1">
                <a:solidFill>
                  <a:srgbClr val="FF0000"/>
                </a:solidFill>
              </a:rPr>
              <a:t>cut</a:t>
            </a:r>
            <a:r>
              <a:rPr lang="it-IT" sz="1600" b="1" i="1" dirty="0">
                <a:solidFill>
                  <a:srgbClr val="FF0000"/>
                </a:solidFill>
              </a:rPr>
              <a:t> </a:t>
            </a:r>
            <a:r>
              <a:rPr lang="it-IT" sz="1600" b="1" i="1" dirty="0" err="1">
                <a:solidFill>
                  <a:srgbClr val="FF0000"/>
                </a:solidFill>
              </a:rPr>
              <a:t>point</a:t>
            </a:r>
            <a:r>
              <a:rPr lang="it-IT" sz="1600" b="1" i="1" dirty="0">
                <a:solidFill>
                  <a:srgbClr val="FF0000"/>
                </a:solidFill>
              </a:rPr>
              <a:t> delle varie dimensioni)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122B85F-327B-EFBC-5074-7C577BDE1C94}"/>
              </a:ext>
            </a:extLst>
          </p:cNvPr>
          <p:cNvSpPr txBox="1"/>
          <p:nvPr/>
        </p:nvSpPr>
        <p:spPr>
          <a:xfrm>
            <a:off x="2135560" y="5970766"/>
            <a:ext cx="627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FF0000"/>
                </a:solidFill>
              </a:rPr>
              <a:t>wo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2A8B70F-0E84-F4C7-3747-13375295C78D}"/>
              </a:ext>
            </a:extLst>
          </p:cNvPr>
          <p:cNvSpPr txBox="1"/>
          <p:nvPr/>
        </p:nvSpPr>
        <p:spPr>
          <a:xfrm>
            <a:off x="4820196" y="4941168"/>
            <a:ext cx="627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 err="1">
                <a:solidFill>
                  <a:srgbClr val="FF0000"/>
                </a:solidFill>
              </a:rPr>
              <a:t>wo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113A556-7B5C-AD7D-4D37-E8F1E7216762}"/>
              </a:ext>
            </a:extLst>
          </p:cNvPr>
          <p:cNvSpPr txBox="1"/>
          <p:nvPr/>
        </p:nvSpPr>
        <p:spPr>
          <a:xfrm>
            <a:off x="2207568" y="3645024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no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2EC7976-E309-E625-846D-FE2054A73E04}"/>
              </a:ext>
            </a:extLst>
          </p:cNvPr>
          <p:cNvSpPr txBox="1"/>
          <p:nvPr/>
        </p:nvSpPr>
        <p:spPr>
          <a:xfrm>
            <a:off x="4943872" y="3657155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FF0000"/>
                </a:solidFill>
              </a:rPr>
              <a:t>no</a:t>
            </a:r>
            <a:endParaRPr lang="it-IT" sz="1600" b="1" i="1" dirty="0">
              <a:solidFill>
                <a:srgbClr val="FF0000"/>
              </a:solidFill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B3E5B9A3-A609-C07F-3744-ECB431925B87}"/>
              </a:ext>
            </a:extLst>
          </p:cNvPr>
          <p:cNvSpPr/>
          <p:nvPr/>
        </p:nvSpPr>
        <p:spPr>
          <a:xfrm>
            <a:off x="3467708" y="4437113"/>
            <a:ext cx="252028" cy="67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825B1CF-17DE-6E44-238B-955900A093CB}"/>
              </a:ext>
            </a:extLst>
          </p:cNvPr>
          <p:cNvSpPr txBox="1"/>
          <p:nvPr/>
        </p:nvSpPr>
        <p:spPr>
          <a:xfrm>
            <a:off x="4007768" y="3121804"/>
            <a:ext cx="1944216" cy="52322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/>
              <a:t>‘Age’ non è sufficiente a classificare, qui.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A7C86B71-94B8-2AF6-09BD-235B3980A953}"/>
              </a:ext>
            </a:extLst>
          </p:cNvPr>
          <p:cNvCxnSpPr/>
          <p:nvPr/>
        </p:nvCxnSpPr>
        <p:spPr>
          <a:xfrm flipH="1">
            <a:off x="3646098" y="3644832"/>
            <a:ext cx="361672" cy="806398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6DE85CC-CD27-EF63-A590-2D607615929B}"/>
              </a:ext>
            </a:extLst>
          </p:cNvPr>
          <p:cNvSpPr txBox="1"/>
          <p:nvPr/>
        </p:nvSpPr>
        <p:spPr>
          <a:xfrm>
            <a:off x="1664730" y="36401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n=32, p=3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FE82FDA-13AF-7F5A-B234-C040939C83E6}"/>
              </a:ext>
            </a:extLst>
          </p:cNvPr>
          <p:cNvSpPr txBox="1"/>
          <p:nvPr/>
        </p:nvSpPr>
        <p:spPr>
          <a:xfrm>
            <a:off x="6295944" y="2636912"/>
            <a:ext cx="1013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rgbClr val="FF0000"/>
                </a:solidFill>
              </a:rPr>
              <a:t>fitting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EFE7365-E2A6-A171-AE9D-AB1A9CF0C6E6}"/>
              </a:ext>
            </a:extLst>
          </p:cNvPr>
          <p:cNvSpPr txBox="1"/>
          <p:nvPr/>
        </p:nvSpPr>
        <p:spPr>
          <a:xfrm>
            <a:off x="5709970" y="3863034"/>
            <a:ext cx="1013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FF0000"/>
                </a:solidFill>
              </a:rPr>
              <a:t>Plotting</a:t>
            </a:r>
            <a:r>
              <a:rPr lang="it-IT" sz="1600" dirty="0">
                <a:solidFill>
                  <a:srgbClr val="FF0000"/>
                </a:solidFill>
              </a:rPr>
              <a:t> (a valle)</a:t>
            </a:r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2AA8EBBE-E62C-4420-C115-B525C4710AD0}"/>
              </a:ext>
            </a:extLst>
          </p:cNvPr>
          <p:cNvCxnSpPr>
            <a:cxnSpLocks/>
          </p:cNvCxnSpPr>
          <p:nvPr/>
        </p:nvCxnSpPr>
        <p:spPr>
          <a:xfrm>
            <a:off x="3359696" y="3682134"/>
            <a:ext cx="0" cy="89899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3E116F71-F65F-8C6D-1E9D-E54E36A2EB66}"/>
              </a:ext>
            </a:extLst>
          </p:cNvPr>
          <p:cNvCxnSpPr/>
          <p:nvPr/>
        </p:nvCxnSpPr>
        <p:spPr>
          <a:xfrm>
            <a:off x="3645284" y="5279722"/>
            <a:ext cx="1729822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A480C7B7-B3E1-9A6D-DAA6-DCC695FB50D6}"/>
              </a:ext>
            </a:extLst>
          </p:cNvPr>
          <p:cNvCxnSpPr>
            <a:cxnSpLocks/>
          </p:cNvCxnSpPr>
          <p:nvPr/>
        </p:nvCxnSpPr>
        <p:spPr>
          <a:xfrm>
            <a:off x="4367808" y="5279722"/>
            <a:ext cx="0" cy="1029598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00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A33208B-ABD8-255C-A66C-6876D6558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243" y="271681"/>
            <a:ext cx="5092212" cy="5013176"/>
          </a:xfrm>
          <a:prstGeom prst="rect">
            <a:avLst/>
          </a:prstGeom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60E86F8-6530-18B1-E560-77C66946A58F}"/>
              </a:ext>
            </a:extLst>
          </p:cNvPr>
          <p:cNvSpPr/>
          <p:nvPr/>
        </p:nvSpPr>
        <p:spPr>
          <a:xfrm>
            <a:off x="8635593" y="548680"/>
            <a:ext cx="1368152" cy="504056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elevation</a:t>
            </a:r>
            <a:endParaRPr lang="it-IT" dirty="0">
              <a:solidFill>
                <a:schemeClr val="tx1"/>
              </a:solidFill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E2F974F-CE04-EFE3-6DAB-0A53AF455597}"/>
              </a:ext>
            </a:extLst>
          </p:cNvPr>
          <p:cNvCxnSpPr>
            <a:stCxn id="4" idx="2"/>
          </p:cNvCxnSpPr>
          <p:nvPr/>
        </p:nvCxnSpPr>
        <p:spPr>
          <a:xfrm flipH="1">
            <a:off x="8491577" y="1052736"/>
            <a:ext cx="82809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F4380CA-B4FE-C1F3-62EA-B3B6CB765C44}"/>
              </a:ext>
            </a:extLst>
          </p:cNvPr>
          <p:cNvCxnSpPr>
            <a:cxnSpLocks/>
          </p:cNvCxnSpPr>
          <p:nvPr/>
        </p:nvCxnSpPr>
        <p:spPr>
          <a:xfrm>
            <a:off x="9319669" y="1064836"/>
            <a:ext cx="684076" cy="635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1E94250-50EC-C471-56AD-F381D20CE679}"/>
              </a:ext>
            </a:extLst>
          </p:cNvPr>
          <p:cNvSpPr/>
          <p:nvPr/>
        </p:nvSpPr>
        <p:spPr>
          <a:xfrm>
            <a:off x="7807501" y="1868965"/>
            <a:ext cx="1368152" cy="504056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price / </a:t>
            </a:r>
            <a:r>
              <a:rPr lang="it-IT" dirty="0" err="1">
                <a:solidFill>
                  <a:schemeClr val="tx1"/>
                </a:solidFill>
              </a:rPr>
              <a:t>sqft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5D5AFF-4DB4-1385-344A-4D1699793A95}"/>
              </a:ext>
            </a:extLst>
          </p:cNvPr>
          <p:cNvSpPr txBox="1"/>
          <p:nvPr/>
        </p:nvSpPr>
        <p:spPr>
          <a:xfrm>
            <a:off x="9768408" y="123277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&gt; 239.5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B57CAE7-0A37-BB00-EDFE-30B160D3BEB8}"/>
              </a:ext>
            </a:extLst>
          </p:cNvPr>
          <p:cNvSpPr txBox="1"/>
          <p:nvPr/>
        </p:nvSpPr>
        <p:spPr>
          <a:xfrm>
            <a:off x="7997648" y="1232770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&lt; 239.5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AF4D49B-3BCA-D5C9-95FA-4727F2704B98}"/>
              </a:ext>
            </a:extLst>
          </p:cNvPr>
          <p:cNvSpPr/>
          <p:nvPr/>
        </p:nvSpPr>
        <p:spPr>
          <a:xfrm>
            <a:off x="9526692" y="1818457"/>
            <a:ext cx="954106" cy="43204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SF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4DFEB4BD-9005-ACEC-C8D1-3362404BF13F}"/>
              </a:ext>
            </a:extLst>
          </p:cNvPr>
          <p:cNvSpPr/>
          <p:nvPr/>
        </p:nvSpPr>
        <p:spPr>
          <a:xfrm>
            <a:off x="9369006" y="3292017"/>
            <a:ext cx="954106" cy="432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NY</a:t>
            </a:r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8F109A3-5184-BC6D-6A60-5EDE3BEB6EB8}"/>
              </a:ext>
            </a:extLst>
          </p:cNvPr>
          <p:cNvCxnSpPr/>
          <p:nvPr/>
        </p:nvCxnSpPr>
        <p:spPr>
          <a:xfrm flipH="1">
            <a:off x="7689846" y="2491266"/>
            <a:ext cx="828092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D9E44F-5AA0-23E0-38FB-75B0216123D7}"/>
              </a:ext>
            </a:extLst>
          </p:cNvPr>
          <p:cNvCxnSpPr>
            <a:cxnSpLocks/>
          </p:cNvCxnSpPr>
          <p:nvPr/>
        </p:nvCxnSpPr>
        <p:spPr>
          <a:xfrm>
            <a:off x="8521883" y="2491267"/>
            <a:ext cx="1139825" cy="769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AF154C0-F0F9-6A32-6DC8-5BB5E9523BA3}"/>
              </a:ext>
            </a:extLst>
          </p:cNvPr>
          <p:cNvSpPr txBox="1"/>
          <p:nvPr/>
        </p:nvSpPr>
        <p:spPr>
          <a:xfrm>
            <a:off x="9180565" y="2727289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&gt; 1776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B3ED4FE-7EB4-9F5B-732A-C56F63FAF72B}"/>
              </a:ext>
            </a:extLst>
          </p:cNvPr>
          <p:cNvSpPr txBox="1"/>
          <p:nvPr/>
        </p:nvSpPr>
        <p:spPr>
          <a:xfrm>
            <a:off x="7205560" y="2639770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&lt; 1776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19CA645-3157-723C-FEAF-44C6CFB58FFF}"/>
              </a:ext>
            </a:extLst>
          </p:cNvPr>
          <p:cNvSpPr/>
          <p:nvPr/>
        </p:nvSpPr>
        <p:spPr>
          <a:xfrm>
            <a:off x="6795456" y="3257583"/>
            <a:ext cx="596689" cy="432048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A2C82EF-C223-7B8B-68B7-A33ED7AC3964}"/>
              </a:ext>
            </a:extLst>
          </p:cNvPr>
          <p:cNvSpPr txBox="1"/>
          <p:nvPr/>
        </p:nvSpPr>
        <p:spPr>
          <a:xfrm>
            <a:off x="6507609" y="3718741"/>
            <a:ext cx="1299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Possibilità # 1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DE7F7511-6294-C44E-2AD1-35CF49445352}"/>
              </a:ext>
            </a:extLst>
          </p:cNvPr>
          <p:cNvSpPr/>
          <p:nvPr/>
        </p:nvSpPr>
        <p:spPr>
          <a:xfrm>
            <a:off x="7439587" y="3269682"/>
            <a:ext cx="1527091" cy="43204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</a:rPr>
              <a:t>SF (la più frequente)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A8A6C98-E35D-79FE-DE87-BF3E76DE3B87}"/>
              </a:ext>
            </a:extLst>
          </p:cNvPr>
          <p:cNvSpPr txBox="1"/>
          <p:nvPr/>
        </p:nvSpPr>
        <p:spPr>
          <a:xfrm>
            <a:off x="7622567" y="3710508"/>
            <a:ext cx="1299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Possibilità # 2</a:t>
            </a:r>
          </a:p>
        </p:txBody>
      </p:sp>
    </p:spTree>
    <p:extLst>
      <p:ext uri="{BB962C8B-B14F-4D97-AF65-F5344CB8AC3E}">
        <p14:creationId xmlns:p14="http://schemas.microsoft.com/office/powerpoint/2010/main" val="420208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0EB90E1-F55E-E42C-0CD6-068A1DCAE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07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F8EE65B-BD4A-551B-8D1C-2EF0471E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1145704"/>
            <a:ext cx="10076798" cy="470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7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CC08F8D-A787-8F67-F5C9-94718F4A2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6302" y="0"/>
            <a:ext cx="4679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09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F9B73D0-2400-D9EF-6702-31D16A510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3522AE-96D5-A33A-5D10-562646730065}"/>
              </a:ext>
            </a:extLst>
          </p:cNvPr>
          <p:cNvSpPr txBox="1"/>
          <p:nvPr/>
        </p:nvSpPr>
        <p:spPr>
          <a:xfrm>
            <a:off x="123824" y="85725"/>
            <a:ext cx="19145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Slide generata dalla AI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578499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1096</Words>
  <Application>Microsoft Office PowerPoint</Application>
  <PresentationFormat>Widescreen</PresentationFormat>
  <Paragraphs>140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Marker Felt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5</cp:revision>
  <dcterms:created xsi:type="dcterms:W3CDTF">2026-09-10T20:09:39Z</dcterms:created>
  <dcterms:modified xsi:type="dcterms:W3CDTF">2026-09-11T07:01:00Z</dcterms:modified>
</cp:coreProperties>
</file>